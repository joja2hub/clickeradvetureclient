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80" y="5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734">
              <a:alpha val="64000"/>
            </a:srgbClr>
          </a:solidFill>
          <a:ln w="12700">
            <a:solidFill>
              <a:srgbClr val="19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3383280" cy="347472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635508"/>
            <a:ext cx="327355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92734"/>
                </a:solidFill>
                <a:latin typeface="Aptos"/>
              </a:rPr>
              <a:t>ВЫПУСКНАЯ КВАЛИФИКАЦИОННАЯ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7223760" cy="2834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Разработка мобильного
приложения-ежедневника
с использованием метода
геймификации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315968"/>
            <a:ext cx="70408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9ECCD"/>
                </a:solidFill>
                <a:latin typeface="Aptos"/>
              </a:rPr>
              <a:t>Обновленная клиент-серверная система Unity · Web · Firebase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5166360"/>
            <a:ext cx="30175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И. Д. Ерюшев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5559552"/>
            <a:ext cx="356616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Направление 02.03.03
Научный руководитель: В. А. Акиньшина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08192"/>
            <a:ext cx="21945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Краснодар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Проблема, цель 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От игрового прототипа к семейному цифровому сервису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36192"/>
            <a:ext cx="356616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29260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AE4A37"/>
                </a:solidFill>
                <a:latin typeface="Aptos"/>
              </a:rP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297180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92734"/>
                </a:solidFill>
                <a:latin typeface="Aptos"/>
              </a:rPr>
              <a:t>Обычный список дел слабо мотивирует ребенка, а отдельная игра не связывает цифровой прогресс с полезными действиями.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4069080"/>
            <a:ext cx="2907792" cy="1444752"/>
          </a:xfrm>
          <a:prstGeom prst="roundRect">
            <a:avLst/>
          </a:prstGeom>
          <a:solidFill>
            <a:srgbClr val="F7E2DD"/>
          </a:solidFill>
          <a:ln w="12700">
            <a:solidFill>
              <a:srgbClr val="F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4315968"/>
            <a:ext cx="25603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E4A37"/>
                </a:solidFill>
                <a:latin typeface="Aptos"/>
              </a:rPr>
              <a:t>Нужен общий процесс: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81728"/>
            <a:ext cx="2487168" cy="6035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92734"/>
                </a:solidFill>
                <a:latin typeface="Aptos"/>
              </a:rPr>
              <a:t>родитель назначает → ребенок выполняет → система подтверждает и награждает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536192"/>
            <a:ext cx="7251192" cy="1856231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DE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792224"/>
            <a:ext cx="1097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5B45"/>
                </a:solidFill>
                <a:latin typeface="Aptos"/>
              </a:rPr>
              <a:t>Цель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12848"/>
            <a:ext cx="649224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92734"/>
                </a:solidFill>
                <a:latin typeface="Aptos"/>
              </a:rPr>
              <a:t>Развить Unity-прототип до целостной клиент-серверной системы с web-интерфейсом родителя, синхронизацией заданий, аналитикой и объяснимыми рекомендациями.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712463"/>
            <a:ext cx="2926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92734"/>
                </a:solidFill>
                <a:latin typeface="Aptos"/>
              </a:rPr>
              <a:t>Ключевые задачи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187952"/>
            <a:ext cx="6629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CC8F25"/>
                </a:solidFill>
                <a:latin typeface="Aptos"/>
              </a:rPr>
              <a:t>●  </a:t>
            </a:r>
            <a:r>
              <a:rPr sz="1650">
                <a:solidFill>
                  <a:srgbClr val="192734"/>
                </a:solidFill>
                <a:latin typeface="Aptos"/>
              </a:rPr>
              <a:t>разделить интерфейсы ребенка и родителя;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CC8F25"/>
                </a:solidFill>
                <a:latin typeface="Aptos"/>
              </a:rPr>
              <a:t>●  </a:t>
            </a:r>
            <a:r>
              <a:rPr sz="1650">
                <a:solidFill>
                  <a:srgbClr val="192734"/>
                </a:solidFill>
                <a:latin typeface="Aptos"/>
              </a:rPr>
              <a:t>реализовать единый жизненный цикл квеста;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CC8F25"/>
                </a:solidFill>
                <a:latin typeface="Aptos"/>
              </a:rPr>
              <a:t>●  </a:t>
            </a:r>
            <a:r>
              <a:rPr sz="1650">
                <a:solidFill>
                  <a:srgbClr val="192734"/>
                </a:solidFill>
                <a:latin typeface="Aptos"/>
              </a:rPr>
              <a:t>расширить облачную модель данных Firestore;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CC8F25"/>
                </a:solidFill>
                <a:latin typeface="Aptos"/>
              </a:rPr>
              <a:t>●  </a:t>
            </a:r>
            <a:r>
              <a:rPr sz="1650">
                <a:solidFill>
                  <a:srgbClr val="192734"/>
                </a:solidFill>
                <a:latin typeface="Aptos"/>
              </a:rPr>
              <a:t>собирать события и рассчитывать аналитику;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CC8F25"/>
                </a:solidFill>
                <a:latin typeface="Aptos"/>
              </a:rPr>
              <a:t>●  </a:t>
            </a:r>
            <a:r>
              <a:rPr sz="1650">
                <a:solidFill>
                  <a:srgbClr val="192734"/>
                </a:solidFill>
                <a:latin typeface="Aptos"/>
              </a:rPr>
              <a:t>формировать рекомендации на базе экспертных правил.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Архитектурное развитие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53636C"/>
                </a:solidFill>
                <a:latin typeface="Aptos"/>
              </a:rPr>
              <a:t>Главное</a:t>
            </a:r>
            <a:r>
              <a:rPr sz="12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53636C"/>
                </a:solidFill>
                <a:latin typeface="Aptos"/>
              </a:rPr>
              <a:t>изменение</a:t>
            </a:r>
            <a:r>
              <a:rPr sz="1250" b="0" dirty="0">
                <a:solidFill>
                  <a:srgbClr val="53636C"/>
                </a:solidFill>
                <a:latin typeface="Aptos"/>
              </a:rPr>
              <a:t>: </a:t>
            </a:r>
            <a:r>
              <a:rPr sz="1250" b="0" dirty="0" err="1">
                <a:solidFill>
                  <a:srgbClr val="53636C"/>
                </a:solidFill>
                <a:latin typeface="Aptos"/>
              </a:rPr>
              <a:t>система</a:t>
            </a:r>
            <a:r>
              <a:rPr sz="12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53636C"/>
                </a:solidFill>
                <a:latin typeface="Aptos"/>
              </a:rPr>
              <a:t>перестала</a:t>
            </a:r>
            <a:r>
              <a:rPr sz="12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53636C"/>
                </a:solidFill>
                <a:latin typeface="Aptos"/>
              </a:rPr>
              <a:t>быть</a:t>
            </a:r>
            <a:r>
              <a:rPr sz="12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53636C"/>
                </a:solidFill>
                <a:latin typeface="Aptos"/>
              </a:rPr>
              <a:t>изолированным</a:t>
            </a:r>
            <a:r>
              <a:rPr sz="1250" b="0" dirty="0">
                <a:solidFill>
                  <a:srgbClr val="53636C"/>
                </a:solidFill>
                <a:latin typeface="Aptos"/>
              </a:rPr>
              <a:t> Unity-</a:t>
            </a:r>
            <a:r>
              <a:rPr sz="1250" b="0" dirty="0" err="1">
                <a:solidFill>
                  <a:srgbClr val="53636C"/>
                </a:solidFill>
                <a:latin typeface="Aptos"/>
              </a:rPr>
              <a:t>приложением</a:t>
            </a:r>
            <a:endParaRPr sz="1250" b="0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9344"/>
            <a:ext cx="4005072" cy="4498848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83664"/>
            <a:ext cx="3346704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06997"/>
                </a:solidFill>
                <a:latin typeface="Aptos"/>
              </a:rPr>
              <a:t>Исходный MVP</a:t>
            </a:r>
          </a:p>
        </p:txBody>
      </p:sp>
      <p:pic>
        <p:nvPicPr>
          <p:cNvPr id="10" name="Picture 9" descr="bg_world_map_parchment.png"/>
          <p:cNvPicPr>
            <a:picLocks noChangeAspect="1"/>
          </p:cNvPicPr>
          <p:nvPr/>
        </p:nvPicPr>
        <p:blipFill>
          <a:blip r:embed="rId2"/>
          <a:srcRect t="22656" b="22656"/>
          <a:stretch>
            <a:fillRect/>
          </a:stretch>
        </p:blipFill>
        <p:spPr>
          <a:xfrm>
            <a:off x="1097280" y="2514600"/>
            <a:ext cx="292608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" y="4443984"/>
            <a:ext cx="33375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306997"/>
                </a:solidFill>
                <a:latin typeface="Aptos"/>
              </a:rPr>
              <a:t>● 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локальный</a:t>
            </a:r>
            <a:r>
              <a:rPr sz="1550" dirty="0">
                <a:solidFill>
                  <a:srgbClr val="306997"/>
                </a:solidFill>
                <a:latin typeface="Aptos"/>
              </a:rPr>
              <a:t> Unity-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клиент</a:t>
            </a:r>
            <a:endParaRPr sz="155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306997"/>
                </a:solidFill>
                <a:latin typeface="Aptos"/>
              </a:rPr>
              <a:t>● 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базовая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карта</a:t>
            </a:r>
            <a:r>
              <a:rPr sz="1550" dirty="0">
                <a:solidFill>
                  <a:srgbClr val="306997"/>
                </a:solidFill>
                <a:latin typeface="Aptos"/>
              </a:rPr>
              <a:t> и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бой</a:t>
            </a:r>
            <a:endParaRPr sz="155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306997"/>
                </a:solidFill>
                <a:latin typeface="Aptos"/>
              </a:rPr>
              <a:t>● 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локальный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список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заданий</a:t>
            </a:r>
            <a:endParaRPr sz="155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306997"/>
                </a:solidFill>
                <a:latin typeface="Aptos"/>
              </a:rPr>
              <a:t>● 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минимальная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адаптивность</a:t>
            </a:r>
            <a:endParaRPr sz="1550" dirty="0">
              <a:solidFill>
                <a:srgbClr val="306997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4791456" y="3822191"/>
            <a:ext cx="1133856" cy="0"/>
          </a:xfrm>
          <a:prstGeom prst="line">
            <a:avLst/>
          </a:prstGeom>
          <a:ln w="50800">
            <a:solidFill>
              <a:srgbClr val="CC8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074920" y="3337560"/>
            <a:ext cx="594360" cy="594360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3401568"/>
            <a:ext cx="5943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dirty="0">
                <a:solidFill>
                  <a:srgbClr val="CC8F25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9344"/>
            <a:ext cx="5440680" cy="4498848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883664"/>
            <a:ext cx="4681728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D5B45"/>
                </a:solidFill>
                <a:latin typeface="Aptos"/>
              </a:rPr>
              <a:t>Итоговая система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2670048"/>
            <a:ext cx="1627632" cy="987552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871216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06997"/>
                </a:solidFill>
                <a:latin typeface="Aptos"/>
              </a:rPr>
              <a:t>Unity-клиент
ребенка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2670048"/>
            <a:ext cx="1627632" cy="987552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871216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C8F25"/>
                </a:solidFill>
                <a:latin typeface="Aptos"/>
              </a:rPr>
              <a:t>Web-панель
родителя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76688" y="2670048"/>
            <a:ext cx="1417320" cy="987552"/>
          </a:xfrm>
          <a:prstGeom prst="roundRect">
            <a:avLst/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2871216"/>
            <a:ext cx="1271016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54997"/>
                </a:solidFill>
                <a:latin typeface="Aptos"/>
              </a:rPr>
              <a:t>Firebase
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9792" y="4251960"/>
            <a:ext cx="1627632" cy="9875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52944" y="4453128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5B45"/>
                </a:solidFill>
                <a:latin typeface="Aptos"/>
              </a:rPr>
              <a:t>Аналитика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00032" y="4251960"/>
            <a:ext cx="1627632" cy="9875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73184" y="4453128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5B45"/>
                </a:solidFill>
                <a:latin typeface="Aptos"/>
              </a:rPr>
              <a:t>Экспертные
рекомендации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504688"/>
            <a:ext cx="4526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5B45"/>
                </a:solidFill>
                <a:latin typeface="Aptos"/>
              </a:rPr>
              <a:t>Общая модель данных и согласованные статусы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Общая архитектура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Два пользовательских клиента и единый облачный слой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04</a:t>
            </a:r>
          </a:p>
        </p:txBody>
      </p:sp>
      <p:pic>
        <p:nvPicPr>
          <p:cNvPr id="8" name="Picture 7" descr="architecture_clean.jpg"/>
          <p:cNvPicPr>
            <a:picLocks noChangeAspect="1"/>
          </p:cNvPicPr>
          <p:nvPr/>
        </p:nvPicPr>
        <p:blipFill>
          <a:blip r:embed="rId2"/>
          <a:srcRect l="14" r="14"/>
          <a:stretch>
            <a:fillRect/>
          </a:stretch>
        </p:blipFill>
        <p:spPr>
          <a:xfrm>
            <a:off x="530352" y="1444752"/>
            <a:ext cx="7726679" cy="5010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76488" y="1444752"/>
            <a:ext cx="3182112" cy="50109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9952" y="1764792"/>
            <a:ext cx="2606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5B45"/>
                </a:solidFill>
                <a:latin typeface="Aptos"/>
              </a:rPr>
              <a:t>Распределение ролей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322576"/>
            <a:ext cx="2560320" cy="3337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Unity: игровой опыт, выполнение и получение наград.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Web: создание детей, квестов, проверка и аналитика.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Firebase Auth: раздельные роли parent и child.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Firestore: единое состояние семьи и квестов.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Cloud Functions: доверенная бизнес-логика и пересчеты.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5788152"/>
            <a:ext cx="2450592" cy="347472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5829300"/>
            <a:ext cx="234086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06997"/>
                </a:solidFill>
                <a:latin typeface="Aptos"/>
              </a:rPr>
              <a:t>REST-МОСТ UNITY ↔ FIREBASE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Обновление Unity-клиента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Адаптивный интерфейс, сервисная архитектура и общий игровой прогресс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05</a:t>
            </a:r>
          </a:p>
        </p:txBody>
      </p:sp>
      <p:pic>
        <p:nvPicPr>
          <p:cNvPr id="8" name="Picture 7" descr="unity_strip.jpg"/>
          <p:cNvPicPr>
            <a:picLocks noChangeAspect="1"/>
          </p:cNvPicPr>
          <p:nvPr/>
        </p:nvPicPr>
        <p:blipFill>
          <a:blip r:embed="rId2"/>
          <a:srcRect t="10242" b="10242"/>
          <a:stretch>
            <a:fillRect/>
          </a:stretch>
        </p:blipFill>
        <p:spPr>
          <a:xfrm>
            <a:off x="530352" y="1517904"/>
            <a:ext cx="5989320" cy="228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3328416"/>
            <a:ext cx="1609344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3369564"/>
            <a:ext cx="149961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92734"/>
                </a:solidFill>
                <a:latin typeface="Aptos"/>
              </a:rPr>
              <a:t>КАРТА МИРА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6624" y="3328416"/>
            <a:ext cx="1609344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3369564"/>
            <a:ext cx="149961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92734"/>
                </a:solidFill>
                <a:latin typeface="Aptos"/>
              </a:rPr>
              <a:t>ДОСКА КВЕСТОВ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0016" y="3328416"/>
            <a:ext cx="1609344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369564"/>
            <a:ext cx="149961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92734"/>
                </a:solidFill>
                <a:latin typeface="Aptos"/>
              </a:rPr>
              <a:t>БОЕВАЯ СЦЕНА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087368"/>
            <a:ext cx="5989320" cy="1965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370832"/>
            <a:ext cx="3291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C8F25"/>
                </a:solidFill>
                <a:latin typeface="Aptos"/>
              </a:rPr>
              <a:t>Пользовательские улучшения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5349240" cy="9875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30">
                <a:solidFill>
                  <a:srgbClr val="CC8F25"/>
                </a:solidFill>
                <a:latin typeface="Aptos"/>
              </a:rPr>
              <a:t>●  </a:t>
            </a:r>
            <a:r>
              <a:rPr sz="1430">
                <a:solidFill>
                  <a:srgbClr val="192734"/>
                </a:solidFill>
                <a:latin typeface="Aptos"/>
              </a:rPr>
              <a:t>Safe Area и масштабирование под мобильные экраны;</a:t>
            </a:r>
          </a:p>
          <a:p>
            <a:pPr algn="l">
              <a:spcAft>
                <a:spcPts val="300"/>
              </a:spcAft>
            </a:pPr>
            <a:r>
              <a:rPr sz="1030">
                <a:solidFill>
                  <a:srgbClr val="CC8F25"/>
                </a:solidFill>
                <a:latin typeface="Aptos"/>
              </a:rPr>
              <a:t>●  </a:t>
            </a:r>
            <a:r>
              <a:rPr sz="1430">
                <a:solidFill>
                  <a:srgbClr val="192734"/>
                </a:solidFill>
                <a:latin typeface="Aptos"/>
              </a:rPr>
              <a:t>интерактивная карта с панорамированием и приближением;</a:t>
            </a:r>
          </a:p>
          <a:p>
            <a:pPr algn="l">
              <a:spcAft>
                <a:spcPts val="300"/>
              </a:spcAft>
            </a:pPr>
            <a:r>
              <a:rPr sz="1030">
                <a:solidFill>
                  <a:srgbClr val="CC8F25"/>
                </a:solidFill>
                <a:latin typeface="Aptos"/>
              </a:rPr>
              <a:t>●  </a:t>
            </a:r>
            <a:r>
              <a:rPr sz="1430">
                <a:solidFill>
                  <a:srgbClr val="192734"/>
                </a:solidFill>
                <a:latin typeface="Aptos"/>
              </a:rPr>
              <a:t>стилизованная доска приключений и карточки квестов;</a:t>
            </a:r>
          </a:p>
          <a:p>
            <a:pPr algn="l">
              <a:spcAft>
                <a:spcPts val="300"/>
              </a:spcAft>
            </a:pPr>
            <a:r>
              <a:rPr sz="1030">
                <a:solidFill>
                  <a:srgbClr val="CC8F25"/>
                </a:solidFill>
                <a:latin typeface="Aptos"/>
              </a:rPr>
              <a:t>●  </a:t>
            </a:r>
            <a:r>
              <a:rPr sz="1430">
                <a:solidFill>
                  <a:srgbClr val="192734"/>
                </a:solidFill>
                <a:latin typeface="Aptos"/>
              </a:rPr>
              <a:t>анимация получения опыта и золота в постоянный HUD.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4848" y="1517904"/>
            <a:ext cx="4864608" cy="4535424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14032" y="1810512"/>
            <a:ext cx="4160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D5B45"/>
                </a:solidFill>
                <a:latin typeface="Aptos"/>
              </a:rPr>
              <a:t>Программные слои Unity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2048" y="2395728"/>
            <a:ext cx="3950208" cy="640080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7" y="2487168"/>
            <a:ext cx="12344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306997"/>
                </a:solidFill>
                <a:latin typeface="Aptos"/>
              </a:rPr>
              <a:t>UI / Scenes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478024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92734"/>
                </a:solidFill>
                <a:latin typeface="Aptos"/>
              </a:rPr>
              <a:t>Login · Map · Battle · Town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42048" y="3209544"/>
            <a:ext cx="3950208" cy="640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24927" y="3300984"/>
            <a:ext cx="12344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D5B45"/>
                </a:solidFill>
                <a:latin typeface="Aptos"/>
              </a:rPr>
              <a:t>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3291840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92734"/>
                </a:solidFill>
                <a:latin typeface="Aptos"/>
              </a:rPr>
              <a:t>Auth · Quest · GameState · Reward ·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42048" y="4023360"/>
            <a:ext cx="3950208" cy="640080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7" y="4114800"/>
            <a:ext cx="12344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C8F25"/>
                </a:solidFill>
                <a:latin typeface="Aptos"/>
              </a:rPr>
              <a:t>Domain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4105656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92734"/>
                </a:solidFill>
                <a:latin typeface="Aptos"/>
              </a:rPr>
              <a:t>UserProfile · RealLifeQuest · GameState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42048" y="4837176"/>
            <a:ext cx="3950208" cy="640080"/>
          </a:xfrm>
          <a:prstGeom prst="roundRect">
            <a:avLst/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24927" y="4928616"/>
            <a:ext cx="12344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654997"/>
                </a:solidFill>
                <a:latin typeface="Aptos"/>
              </a:rPr>
              <a:t>Data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4919472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92734"/>
                </a:solidFill>
                <a:latin typeface="Aptos"/>
              </a:rPr>
              <a:t>FirebaseRestClient · JSON · Cloud Functions facade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614416"/>
            <a:ext cx="400507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D5B45"/>
                </a:solidFill>
                <a:latin typeface="Aptos"/>
              </a:rPr>
              <a:t>ServiceRegistry связывает подсистемы и сохраняет возможность offline/dev-тестирования.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Web-приложение родителя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Next.js + React + TypeScript + Firebase Web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481328"/>
            <a:ext cx="5742432" cy="45537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eb_login.png"/>
          <p:cNvPicPr>
            <a:picLocks noChangeAspect="1"/>
          </p:cNvPicPr>
          <p:nvPr/>
        </p:nvPicPr>
        <p:blipFill>
          <a:blip r:embed="rId2"/>
          <a:srcRect t="19" b="19"/>
          <a:stretch>
            <a:fillRect/>
          </a:stretch>
        </p:blipFill>
        <p:spPr>
          <a:xfrm>
            <a:off x="758952" y="1719072"/>
            <a:ext cx="5285232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6112" y="5001768"/>
            <a:ext cx="50292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C8F25"/>
                </a:solidFill>
                <a:latin typeface="Aptos"/>
              </a:rPr>
              <a:t>Отдельный рабочий интерфейс для взрослого 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522976"/>
            <a:ext cx="475488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3636C"/>
                </a:solidFill>
                <a:latin typeface="Aptos"/>
              </a:rPr>
              <a:t>Web-клиент не дублирует игру, а управляет семейным сценарием.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1481328"/>
            <a:ext cx="5102352" cy="4553712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2" y="1810512"/>
            <a:ext cx="42976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5B45"/>
                </a:solidFill>
                <a:latin typeface="Aptos"/>
              </a:rPr>
              <a:t>Реализованные функции</a:t>
            </a:r>
          </a:p>
        </p:txBody>
      </p:sp>
      <p:sp>
        <p:nvSpPr>
          <p:cNvPr id="14" name="Oval 13"/>
          <p:cNvSpPr/>
          <p:nvPr/>
        </p:nvSpPr>
        <p:spPr>
          <a:xfrm>
            <a:off x="6912864" y="2359152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12864" y="2459736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2359152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Семья и дети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359152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создание профиля и Unity-входа</a:t>
            </a:r>
          </a:p>
        </p:txBody>
      </p:sp>
      <p:sp>
        <p:nvSpPr>
          <p:cNvPr id="18" name="Oval 17"/>
          <p:cNvSpPr/>
          <p:nvPr/>
        </p:nvSpPr>
        <p:spPr>
          <a:xfrm>
            <a:off x="6912864" y="3026664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12864" y="3127248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3026664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Управление квестами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3026664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шаблоны, сложность, награды</a:t>
            </a:r>
          </a:p>
        </p:txBody>
      </p:sp>
      <p:sp>
        <p:nvSpPr>
          <p:cNvPr id="22" name="Oval 21"/>
          <p:cNvSpPr/>
          <p:nvPr/>
        </p:nvSpPr>
        <p:spPr>
          <a:xfrm>
            <a:off x="6912864" y="3694176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12864" y="3794760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694176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Проверка выполнения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3694176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одобрение, отклонение, комментарий</a:t>
            </a:r>
          </a:p>
        </p:txBody>
      </p:sp>
      <p:sp>
        <p:nvSpPr>
          <p:cNvPr id="26" name="Oval 25"/>
          <p:cNvSpPr/>
          <p:nvPr/>
        </p:nvSpPr>
        <p:spPr>
          <a:xfrm>
            <a:off x="6912864" y="4361688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12864" y="4462272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4361688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Аналитика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4361688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метрики по дням и категориям</a:t>
            </a:r>
          </a:p>
        </p:txBody>
      </p:sp>
      <p:sp>
        <p:nvSpPr>
          <p:cNvPr id="30" name="Oval 29"/>
          <p:cNvSpPr/>
          <p:nvPr/>
        </p:nvSpPr>
        <p:spPr>
          <a:xfrm>
            <a:off x="6912864" y="5029200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2864" y="5129784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5029200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Рекомендации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5029200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совет при создании нового задания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Синхронизация заданий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Единый жизненный цикл связывает действия родителя и ребенка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07</a:t>
            </a:r>
          </a:p>
        </p:txBody>
      </p:sp>
      <p:pic>
        <p:nvPicPr>
          <p:cNvPr id="8" name="Picture 7" descr="lifecycle_clean.jpg"/>
          <p:cNvPicPr>
            <a:picLocks noChangeAspect="1"/>
          </p:cNvPicPr>
          <p:nvPr/>
        </p:nvPicPr>
        <p:blipFill>
          <a:blip r:embed="rId2"/>
          <a:srcRect t="17" b="17"/>
          <a:stretch>
            <a:fillRect/>
          </a:stretch>
        </p:blipFill>
        <p:spPr>
          <a:xfrm>
            <a:off x="530352" y="1435608"/>
            <a:ext cx="7726679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85632" y="1435608"/>
            <a:ext cx="3163824" cy="5029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9952" y="1746504"/>
            <a:ext cx="2587752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306997"/>
                </a:solidFill>
                <a:latin typeface="Aptos"/>
              </a:rPr>
              <a:t>Что синхронизируется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340864"/>
            <a:ext cx="2514600" cy="2395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30">
                <a:solidFill>
                  <a:srgbClr val="CC8F25"/>
                </a:solidFill>
                <a:latin typeface="Aptos"/>
              </a:rPr>
              <a:t>●  </a:t>
            </a:r>
            <a:r>
              <a:rPr sz="1530">
                <a:solidFill>
                  <a:srgbClr val="306997"/>
                </a:solidFill>
                <a:latin typeface="Aptos"/>
              </a:rPr>
              <a:t>статус квеста;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CC8F25"/>
                </a:solidFill>
                <a:latin typeface="Aptos"/>
              </a:rPr>
              <a:t>●  </a:t>
            </a:r>
            <a:r>
              <a:rPr sz="1530">
                <a:solidFill>
                  <a:srgbClr val="306997"/>
                </a:solidFill>
                <a:latin typeface="Aptos"/>
              </a:rPr>
              <a:t>описание и категория;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CC8F25"/>
                </a:solidFill>
                <a:latin typeface="Aptos"/>
              </a:rPr>
              <a:t>●  </a:t>
            </a:r>
            <a:r>
              <a:rPr sz="1530">
                <a:solidFill>
                  <a:srgbClr val="306997"/>
                </a:solidFill>
                <a:latin typeface="Aptos"/>
              </a:rPr>
              <a:t>сложность и награда;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CC8F25"/>
                </a:solidFill>
                <a:latin typeface="Aptos"/>
              </a:rPr>
              <a:t>●  </a:t>
            </a:r>
            <a:r>
              <a:rPr sz="1530">
                <a:solidFill>
                  <a:srgbClr val="306997"/>
                </a:solidFill>
                <a:latin typeface="Aptos"/>
              </a:rPr>
              <a:t>комментарии ребенка и родителя;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CC8F25"/>
                </a:solidFill>
                <a:latin typeface="Aptos"/>
              </a:rPr>
              <a:t>●  </a:t>
            </a:r>
            <a:r>
              <a:rPr sz="1530">
                <a:solidFill>
                  <a:srgbClr val="306997"/>
                </a:solidFill>
                <a:latin typeface="Aptos"/>
              </a:rPr>
              <a:t>временные метки этапов;</a:t>
            </a:r>
          </a:p>
          <a:p>
            <a:pPr algn="l">
              <a:spcAft>
                <a:spcPts val="600"/>
              </a:spcAft>
            </a:pPr>
            <a:r>
              <a:rPr sz="1130">
                <a:solidFill>
                  <a:srgbClr val="CC8F25"/>
                </a:solidFill>
                <a:latin typeface="Aptos"/>
              </a:rPr>
              <a:t>●  </a:t>
            </a:r>
            <a:r>
              <a:rPr sz="1530">
                <a:solidFill>
                  <a:srgbClr val="306997"/>
                </a:solidFill>
                <a:latin typeface="Aptos"/>
              </a:rPr>
              <a:t>признак рекомендации.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9952" y="5074920"/>
            <a:ext cx="2542032" cy="941832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42832" y="5266944"/>
            <a:ext cx="2176272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92734"/>
                </a:solidFill>
                <a:latin typeface="Aptos"/>
              </a:rPr>
              <a:t>Общие статусы исключают расхождения между C#- и TypeScript-моделями.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Изменение модели Firestore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Базовая структура сохранена и расширена аналитическим контуром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2834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6997"/>
                </a:solidFill>
                <a:latin typeface="Aptos"/>
              </a:rPr>
              <a:t>Базовые сущности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1883664" cy="1005840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139696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06997"/>
                </a:solidFill>
                <a:latin typeface="Aptos"/>
              </a:rPr>
              <a:t>users/{uid}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87168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3636C"/>
                </a:solidFill>
                <a:latin typeface="Aptos"/>
              </a:rPr>
              <a:t>роль и профиль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938528"/>
            <a:ext cx="1883664" cy="1005840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9504" y="2139696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5B45"/>
                </a:solidFill>
                <a:latin typeface="Aptos"/>
              </a:rPr>
              <a:t>families/{familyId}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487168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3636C"/>
                </a:solidFill>
                <a:latin typeface="Aptos"/>
              </a:rPr>
              <a:t>семейная группа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3" y="1938528"/>
            <a:ext cx="1883664" cy="1005840"/>
          </a:xfrm>
          <a:prstGeom prst="roundRect">
            <a:avLst/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2139696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54997"/>
                </a:solidFill>
                <a:latin typeface="Aptos"/>
              </a:rPr>
              <a:t>children/{childId}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487168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3636C"/>
                </a:solidFill>
                <a:latin typeface="Aptos"/>
              </a:rPr>
              <a:t>профиль ребенка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31089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54997"/>
                </a:solidFill>
                <a:latin typeface="Aptos"/>
              </a:rPr>
              <a:t>Подколлекции ребенка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13048"/>
            <a:ext cx="1883664" cy="1005840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4014215"/>
            <a:ext cx="1700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>
                <a:solidFill>
                  <a:srgbClr val="CC8F25"/>
                </a:solidFill>
                <a:latin typeface="Aptos"/>
              </a:rPr>
              <a:t>gameState/main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361688"/>
            <a:ext cx="170078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уровень, XP, золото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79776" y="3813048"/>
            <a:ext cx="1883664" cy="1005840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71216" y="4014215"/>
            <a:ext cx="1700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>
                <a:solidFill>
                  <a:srgbClr val="306997"/>
                </a:solidFill>
                <a:latin typeface="Aptos"/>
              </a:rPr>
              <a:t>quests/{questId}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6" y="4361688"/>
            <a:ext cx="170078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квест и его статусы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01183" y="3813048"/>
            <a:ext cx="1883664" cy="1005840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92623" y="4014215"/>
            <a:ext cx="1700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>
                <a:solidFill>
                  <a:srgbClr val="1D5B45"/>
                </a:solidFill>
                <a:latin typeface="Aptos"/>
              </a:rPr>
              <a:t>rewardLedger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3" y="4361688"/>
            <a:ext cx="170078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учет начислений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84648"/>
            <a:ext cx="6126480" cy="7406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5385816"/>
            <a:ext cx="565099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92734"/>
                </a:solidFill>
                <a:latin typeface="Aptos"/>
              </a:rPr>
              <a:t>Небольшое изменение основной БД: новые поля difficulty, recommendationScore, recommended и временные метки.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0608" y="1527048"/>
            <a:ext cx="4498848" cy="4398264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61504" y="1837943"/>
            <a:ext cx="3867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D5B45"/>
                </a:solidFill>
                <a:latin typeface="Aptos"/>
              </a:rPr>
              <a:t>Новый аналитический контур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2423160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44968" y="2514600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D5B45"/>
                </a:solidFill>
                <a:latin typeface="Aptos"/>
              </a:rPr>
              <a:t>questEvents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2505456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неизменяемый журнал событий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3172968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44968" y="3264408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D5B45"/>
                </a:solidFill>
                <a:latin typeface="Aptos"/>
              </a:rPr>
              <a:t>analyticsDaily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3255263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агрегаты по датам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3922776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44968" y="4014215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D5B45"/>
                </a:solidFill>
                <a:latin typeface="Aptos"/>
              </a:rPr>
              <a:t>analyticsByCategory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4" y="4005072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признаки по категориям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4672583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44968" y="4764023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D5B45"/>
                </a:solidFill>
                <a:latin typeface="Aptos"/>
              </a:rPr>
              <a:t>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6024" y="4754879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результат expert-v1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5504688"/>
            <a:ext cx="3703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Firestore Rules ограничивают доступ по роли и familyId.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Система аналитики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Событийная модель превращает действия пользователей в измеримые признаки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2423160" cy="2377440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2011680"/>
            <a:ext cx="457200" cy="457200"/>
          </a:xfrm>
          <a:prstGeom prst="ellipse">
            <a:avLst/>
          </a:prstGeom>
          <a:solidFill>
            <a:srgbClr val="306997"/>
          </a:solidFill>
          <a:ln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112264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06997"/>
                </a:solidFill>
                <a:latin typeface="Aptos"/>
              </a:rPr>
              <a:t>События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>
                <a:solidFill>
                  <a:srgbClr val="192734"/>
                </a:solidFill>
                <a:latin typeface="Aptos"/>
              </a:rPr>
              <a:t>created · viewed · submitted
approved · rejected · claimed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4952" y="3026664"/>
            <a:ext cx="329184" cy="0"/>
          </a:xfrm>
          <a:prstGeom prst="line">
            <a:avLst/>
          </a:prstGeom>
          <a:ln w="31750">
            <a:solidFill>
              <a:srgbClr val="1927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6432" y="1847088"/>
            <a:ext cx="2423160" cy="2377440"/>
          </a:xfrm>
          <a:prstGeom prst="roundRect">
            <a:avLst/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011680"/>
            <a:ext cx="457200" cy="457200"/>
          </a:xfrm>
          <a:prstGeom prst="ellipse">
            <a:avLst/>
          </a:prstGeom>
          <a:solidFill>
            <a:srgbClr val="654997"/>
          </a:solidFill>
          <a:ln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112264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54997"/>
                </a:solidFill>
                <a:latin typeface="Aptos"/>
              </a:rPr>
              <a:t>Агрегация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>
                <a:solidFill>
                  <a:srgbClr val="192734"/>
                </a:solidFill>
                <a:latin typeface="Aptos"/>
              </a:rPr>
              <a:t>по дням и категориям
Cloud Functions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07024" y="3026664"/>
            <a:ext cx="329184" cy="0"/>
          </a:xfrm>
          <a:prstGeom prst="line">
            <a:avLst/>
          </a:prstGeom>
          <a:ln w="31750">
            <a:solidFill>
              <a:srgbClr val="1927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1847088"/>
            <a:ext cx="2423160" cy="2377440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83096" y="2011680"/>
            <a:ext cx="457200" cy="457200"/>
          </a:xfrm>
          <a:prstGeom prst="ellipse">
            <a:avLst/>
          </a:prstGeom>
          <a:solidFill>
            <a:srgbClr val="CC8F25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2112264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C8F25"/>
                </a:solidFill>
                <a:latin typeface="Aptos"/>
              </a:rPr>
              <a:t>Показатели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>
                <a:solidFill>
                  <a:srgbClr val="192734"/>
                </a:solidFill>
                <a:latin typeface="Aptos"/>
              </a:rPr>
              <a:t>completionRate · rejectionRate
avgSubmitHours · viewToSubmitRate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69096" y="3026664"/>
            <a:ext cx="329184" cy="0"/>
          </a:xfrm>
          <a:prstGeom prst="line">
            <a:avLst/>
          </a:prstGeom>
          <a:ln w="31750">
            <a:solidFill>
              <a:srgbClr val="1927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0576" y="1847088"/>
            <a:ext cx="2423160" cy="2377440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45168" y="2011680"/>
            <a:ext cx="457200" cy="457200"/>
          </a:xfrm>
          <a:prstGeom prst="ellipse">
            <a:avLst/>
          </a:prstGeom>
          <a:solidFill>
            <a:srgbClr val="1D5B45"/>
          </a:solidFill>
          <a:ln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45168" y="2112264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D5B45"/>
                </a:solidFill>
                <a:latin typeface="Aptos"/>
              </a:rPr>
              <a:t>Интерфейс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>
                <a:solidFill>
                  <a:srgbClr val="192734"/>
                </a:solidFill>
                <a:latin typeface="Aptos"/>
              </a:rPr>
              <a:t>динамика, проблемные категории
и рекомендации родителю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681728"/>
            <a:ext cx="10771632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4956048"/>
            <a:ext cx="10104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5B45"/>
                </a:solidFill>
                <a:latin typeface="Aptos"/>
              </a:rPr>
              <a:t>Принцип устойчивости: </a:t>
            </a:r>
            <a:r>
              <a:rPr sz="1600" b="0">
                <a:solidFill>
                  <a:srgbClr val="192734"/>
                </a:solidFill>
                <a:latin typeface="Aptos"/>
              </a:rPr>
              <a:t>ошибка записи аналитического события не блокирует создание квеста, проверку или получение награды.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Рекомендательная и экспертная 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Объяснимый rule-based модуль версии expert-v1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840480" cy="45537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3200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654997"/>
                </a:solidFill>
                <a:latin typeface="Aptos"/>
              </a:rPr>
              <a:t>Механизм вывода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487168"/>
            <a:ext cx="2907792" cy="685800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688336"/>
            <a:ext cx="261518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06997"/>
                </a:solidFill>
                <a:latin typeface="Aptos"/>
              </a:rPr>
              <a:t>Начальная оценка: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3273552"/>
            <a:ext cx="640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CC8F25"/>
                </a:solidFill>
                <a:latin typeface="Aptos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685032"/>
            <a:ext cx="2907792" cy="841248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831336"/>
            <a:ext cx="2615184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C8F25"/>
                </a:solidFill>
                <a:latin typeface="Aptos"/>
              </a:rPr>
              <a:t>Сумма сработавших
экспертных правил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4636008"/>
            <a:ext cx="640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654997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5001768"/>
            <a:ext cx="2907792" cy="685800"/>
          </a:xfrm>
          <a:prstGeom prst="roundRect">
            <a:avLst/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202936"/>
            <a:ext cx="261518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54997"/>
                </a:solidFill>
                <a:latin typeface="Aptos"/>
              </a:rPr>
              <a:t>score ∈ [0; 100]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1517904"/>
            <a:ext cx="3694176" cy="4553712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0056" y="1847088"/>
            <a:ext cx="30632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D5B45"/>
                </a:solidFill>
                <a:latin typeface="Aptos"/>
              </a:rPr>
              <a:t>Примеры правил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478024"/>
            <a:ext cx="566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20" b="1">
                <a:solidFill>
                  <a:srgbClr val="1D5B45"/>
                </a:solidFill>
                <a:latin typeface="Aptos"/>
              </a:rPr>
              <a:t>+25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478024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192734"/>
                </a:solidFill>
                <a:latin typeface="Aptos"/>
              </a:rPr>
              <a:t>успешность ≥ 75%, мало отклонений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3072384"/>
            <a:ext cx="566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20" b="1">
                <a:solidFill>
                  <a:srgbClr val="1D5B45"/>
                </a:solidFill>
                <a:latin typeface="Aptos"/>
              </a:rPr>
              <a:t>+15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6" y="3072384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192734"/>
                </a:solidFill>
                <a:latin typeface="Aptos"/>
              </a:rPr>
              <a:t>среднее выполнение ≤ 24 часов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3666744"/>
            <a:ext cx="566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20" b="1">
                <a:solidFill>
                  <a:srgbClr val="AE4A37"/>
                </a:solidFill>
                <a:latin typeface="Aptos"/>
              </a:rPr>
              <a:t>−30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3666744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192734"/>
                </a:solidFill>
                <a:latin typeface="Aptos"/>
              </a:rPr>
              <a:t>частота отклонений ≥ 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4261104"/>
            <a:ext cx="566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20" b="1">
                <a:solidFill>
                  <a:srgbClr val="AE4A37"/>
                </a:solidFill>
                <a:latin typeface="Aptos"/>
              </a:rPr>
              <a:t>−25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5856" y="4261104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192734"/>
                </a:solidFill>
                <a:latin typeface="Aptos"/>
              </a:rPr>
              <a:t>пять и более активных квестов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4855464"/>
            <a:ext cx="566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20" b="1">
                <a:solidFill>
                  <a:srgbClr val="AE4A37"/>
                </a:solidFill>
                <a:latin typeface="Aptos"/>
              </a:rPr>
              <a:t>−20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855464"/>
            <a:ext cx="23317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192734"/>
                </a:solidFill>
                <a:latin typeface="Aptos"/>
              </a:rPr>
              <a:t>усталость от одной категории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5504688"/>
            <a:ext cx="2578608" cy="347472"/>
          </a:xfrm>
          <a:prstGeom prst="round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12664" y="5545836"/>
            <a:ext cx="2468879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70–100  РЕКОМЕНДУЕТСЯ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68512" y="1517904"/>
            <a:ext cx="2971800" cy="4553712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42832" y="1847088"/>
            <a:ext cx="2423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CC8F25"/>
                </a:solidFill>
                <a:latin typeface="Aptos"/>
              </a:rPr>
              <a:t>Результат для родителя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2679192"/>
            <a:ext cx="2221992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оценка и метка;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причины и риски;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предлагаемые действия;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сложность квеста;</a:t>
            </a:r>
          </a:p>
          <a:p>
            <a:pPr algn="l">
              <a:spcAft>
                <a:spcPts val="700"/>
              </a:spcAft>
            </a:pPr>
            <a:r>
              <a:rPr sz="1100">
                <a:solidFill>
                  <a:srgbClr val="CC8F25"/>
                </a:solidFill>
                <a:latin typeface="Aptos"/>
              </a:rPr>
              <a:t>●  </a:t>
            </a:r>
            <a:r>
              <a:rPr sz="1500">
                <a:solidFill>
                  <a:srgbClr val="192734"/>
                </a:solidFill>
                <a:latin typeface="Aptos"/>
              </a:rPr>
              <a:t>опыт и золото.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552" y="4956048"/>
            <a:ext cx="2313432" cy="7589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62288" y="5102352"/>
            <a:ext cx="1965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192734"/>
                </a:solidFill>
                <a:latin typeface="Aptos"/>
              </a:rPr>
              <a:t>Совет можно применить,
но окончательное решение остается за родителем.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Демонстрация работы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На защите здесь запускается короткое видео полного пользовательского сценария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4370832"/>
          </a:xfrm>
          <a:prstGeom prst="roundRect">
            <a:avLst/>
          </a:prstGeom>
          <a:solidFill>
            <a:srgbClr val="141A1D"/>
          </a:solidFill>
          <a:ln w="12700">
            <a:solidFill>
              <a:srgbClr val="4B5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76672" y="2788920"/>
            <a:ext cx="1417320" cy="1417320"/>
          </a:xfrm>
          <a:prstGeom prst="ellipse">
            <a:avLst/>
          </a:prstGeom>
          <a:solidFill>
            <a:srgbClr val="CC8F25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5400000">
            <a:off x="5879592" y="3136392"/>
            <a:ext cx="475488" cy="585216"/>
          </a:xfrm>
          <a:prstGeom prst="triangl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4517136"/>
            <a:ext cx="560527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ВСТАВИТЬ ВИДЕО ДЕМОНСТРАЦИИ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4974336"/>
            <a:ext cx="427939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2CACC"/>
                </a:solidFill>
                <a:latin typeface="Aptos"/>
              </a:rPr>
              <a:t>Рекомендуемая длительность: 50–70 секунд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6080760"/>
            <a:ext cx="1901952" cy="347472"/>
          </a:xfrm>
          <a:prstGeom prst="roundRect">
            <a:avLst/>
          </a:prstGeom>
          <a:solidFill>
            <a:srgbClr val="E0EDF7"/>
          </a:solidFill>
          <a:ln w="12700"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6121908"/>
            <a:ext cx="17922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06997"/>
                </a:solidFill>
                <a:latin typeface="Aptos"/>
              </a:rPr>
              <a:t>1  Вход ребенка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6080760"/>
            <a:ext cx="1901952" cy="347472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6121908"/>
            <a:ext cx="17922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C8F25"/>
                </a:solidFill>
                <a:latin typeface="Aptos"/>
              </a:rPr>
              <a:t>2  Квест из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6080760"/>
            <a:ext cx="1664208" cy="347472"/>
          </a:xfrm>
          <a:prstGeom prst="roundRect">
            <a:avLst/>
          </a:prstGeom>
          <a:solidFill>
            <a:srgbClr val="EBE5F7"/>
          </a:solidFill>
          <a:ln w="12700"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68112" y="6121908"/>
            <a:ext cx="15544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54997"/>
                </a:solidFill>
                <a:latin typeface="Aptos"/>
              </a:rPr>
              <a:t>3  Проверка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6080760"/>
            <a:ext cx="1664208" cy="347472"/>
          </a:xfrm>
          <a:prstGeom prst="roundRect">
            <a:avLst/>
          </a:prstGeom>
          <a:solidFill>
            <a:srgbClr val="DEEDE5"/>
          </a:solidFill>
          <a:ln w="12700">
            <a:solidFill>
              <a:srgbClr val="DE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70064" y="6121908"/>
            <a:ext cx="15544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D5B45"/>
                </a:solidFill>
                <a:latin typeface="Aptos"/>
              </a:rPr>
              <a:t>4  Награда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6080760"/>
            <a:ext cx="1901952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72016" y="6121908"/>
            <a:ext cx="17922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92734"/>
                </a:solidFill>
                <a:latin typeface="Aptos"/>
              </a:rPr>
              <a:t>5  Аналитика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92734"/>
                </a:solidFill>
                <a:latin typeface="Aptos Display"/>
              </a:rPr>
              <a:t>Результаты модернизации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789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3636C"/>
                </a:solidFill>
                <a:latin typeface="Aptos"/>
              </a:rPr>
              <a:t>Сравнение исходного прототипа и итоговой версии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25296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2743200" cy="566928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28216"/>
            <a:ext cx="252374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Критерий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572768"/>
            <a:ext cx="3154680" cy="566928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728216"/>
            <a:ext cx="29352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Исходная версия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1572768"/>
            <a:ext cx="4892040" cy="566928"/>
          </a:xfrm>
          <a:prstGeom prst="rect">
            <a:avLst/>
          </a:prstGeom>
          <a:solidFill>
            <a:srgbClr val="1D5B4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5976" y="1728216"/>
            <a:ext cx="4672583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Итоговая версия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39696"/>
            <a:ext cx="274320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2276856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Архитектура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2139696"/>
            <a:ext cx="315468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8728" y="2276856"/>
            <a:ext cx="2880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53636C"/>
                </a:solidFill>
                <a:latin typeface="Aptos"/>
              </a:rPr>
              <a:t>Один Unity-клиент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2139696"/>
            <a:ext cx="489204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2276856"/>
            <a:ext cx="46177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Unity + Next.js + Firebase + Functions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61488"/>
            <a:ext cx="274320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2898648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Задания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2761488"/>
            <a:ext cx="315468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38728" y="2898648"/>
            <a:ext cx="2880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53636C"/>
                </a:solidFill>
                <a:latin typeface="Aptos"/>
              </a:rPr>
              <a:t>Локальный список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6248" y="2761488"/>
            <a:ext cx="489204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8" y="2898648"/>
            <a:ext cx="46177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Полный цикл parent ↔ child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383280"/>
            <a:ext cx="274320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520440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Данные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1568" y="3383280"/>
            <a:ext cx="315468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8728" y="3520440"/>
            <a:ext cx="2880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53636C"/>
                </a:solidFill>
                <a:latin typeface="Aptos"/>
              </a:rPr>
              <a:t>Игровое состояние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6248" y="3383280"/>
            <a:ext cx="489204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93408" y="3520440"/>
            <a:ext cx="46177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Роли, семьи, квесты, события, агрегаты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05072"/>
            <a:ext cx="274320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8" y="4142232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Интерфейс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4005072"/>
            <a:ext cx="315468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38728" y="4142232"/>
            <a:ext cx="2880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53636C"/>
                </a:solidFill>
                <a:latin typeface="Aptos"/>
              </a:rPr>
              <a:t>Функциональный MVP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56248" y="4005072"/>
            <a:ext cx="489204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93408" y="4142232"/>
            <a:ext cx="46177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Адаптивная карта, доска, HUD и графика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626864"/>
            <a:ext cx="274320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4764024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Аналитика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4626864"/>
            <a:ext cx="315468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38728" y="4764024"/>
            <a:ext cx="2880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53636C"/>
                </a:solidFill>
                <a:latin typeface="Aptos"/>
              </a:rPr>
              <a:t>Отсутствовала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56248" y="4626864"/>
            <a:ext cx="489204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93408" y="4764024"/>
            <a:ext cx="46177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Дневные и категориальные показатели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248656"/>
            <a:ext cx="274320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5528" y="5385816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Рекомендации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01568" y="5248656"/>
            <a:ext cx="315468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38728" y="5385816"/>
            <a:ext cx="28803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53636C"/>
                </a:solidFill>
                <a:latin typeface="Aptos"/>
              </a:rPr>
              <a:t>Отсутствовали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56248" y="5248656"/>
            <a:ext cx="489204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93408" y="5385816"/>
            <a:ext cx="46177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Объяснимый expert-v1 и настройка наград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998464"/>
            <a:ext cx="10789920" cy="329184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4128" y="6035040"/>
            <a:ext cx="100584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92734"/>
                </a:solidFill>
                <a:latin typeface="Aptos"/>
              </a:rPr>
              <a:t>Итог: доказана работоспособность общего семейного сценария и создана расширяемая основа продукта.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uild_hall_interior.png"/>
          <p:cNvPicPr>
            <a:picLocks noChangeAspect="1"/>
          </p:cNvPicPr>
          <p:nvPr/>
        </p:nvPicPr>
        <p:blipFill>
          <a:blip r:embed="rId2"/>
          <a:srcRect t="21874" b="2187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734">
              <a:alpha val="72000"/>
            </a:srgbClr>
          </a:solidFill>
          <a:ln w="12700">
            <a:solidFill>
              <a:srgbClr val="19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9260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Выводы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60120" cy="64008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00784"/>
            <a:ext cx="7424927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solidFill>
                  <a:srgbClr val="CC8F25"/>
                </a:solidFill>
                <a:latin typeface="Aptos"/>
              </a:rPr>
              <a:t>●  </a:t>
            </a:r>
            <a:r>
              <a:rPr sz="1800">
                <a:solidFill>
                  <a:srgbClr val="FFFFFF"/>
                </a:solidFill>
                <a:latin typeface="Aptos"/>
              </a:rPr>
              <a:t>Unity-прототип преобразован в распределенную клиент-серверную систему.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CC8F25"/>
                </a:solidFill>
                <a:latin typeface="Aptos"/>
              </a:rPr>
              <a:t>●  </a:t>
            </a:r>
            <a:r>
              <a:rPr sz="1800">
                <a:solidFill>
                  <a:srgbClr val="FFFFFF"/>
                </a:solidFill>
                <a:latin typeface="Aptos"/>
              </a:rPr>
              <a:t>Реализовано взаимодействие ребенка и родителя через общий жизненный цикл квеста.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CC8F25"/>
                </a:solidFill>
                <a:latin typeface="Aptos"/>
              </a:rPr>
              <a:t>●  </a:t>
            </a:r>
            <a:r>
              <a:rPr sz="1800">
                <a:solidFill>
                  <a:srgbClr val="FFFFFF"/>
                </a:solidFill>
                <a:latin typeface="Aptos"/>
              </a:rPr>
              <a:t>Firestore расширен событиями, агрегатами и рекомендациями без разрушения базовой модели.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CC8F25"/>
                </a:solidFill>
                <a:latin typeface="Aptos"/>
              </a:rPr>
              <a:t>●  </a:t>
            </a:r>
            <a:r>
              <a:rPr sz="1800">
                <a:solidFill>
                  <a:srgbClr val="FFFFFF"/>
                </a:solidFill>
                <a:latin typeface="Aptos"/>
              </a:rPr>
              <a:t>Экспертная система формирует объяснимые советы по категории, сложности и награде.</a:t>
            </a:r>
          </a:p>
          <a:p>
            <a:pPr algn="l">
              <a:spcAft>
                <a:spcPts val="1200"/>
              </a:spcAft>
            </a:pPr>
            <a:r>
              <a:rPr sz="1400">
                <a:solidFill>
                  <a:srgbClr val="CC8F25"/>
                </a:solidFill>
                <a:latin typeface="Aptos"/>
              </a:rPr>
              <a:t>●  </a:t>
            </a:r>
            <a:r>
              <a:rPr sz="1800">
                <a:solidFill>
                  <a:srgbClr val="FFFFFF"/>
                </a:solidFill>
                <a:latin typeface="Aptos"/>
              </a:rPr>
              <a:t>Архитектура допускает дальнейшее развитие: геолокация, повторяемые квесты и ML-модель.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68512" y="987552"/>
            <a:ext cx="2788920" cy="4553712"/>
          </a:xfrm>
          <a:prstGeom prst="round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42832" y="1481328"/>
            <a:ext cx="224028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D5B45"/>
                </a:solidFill>
                <a:latin typeface="Aptos"/>
              </a:rPr>
              <a:t>Практическая
значимость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8552" y="2670048"/>
            <a:ext cx="2148840" cy="1417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92734"/>
                </a:solidFill>
                <a:latin typeface="Aptos"/>
              </a:rPr>
              <a:t>Родитель получает удобный инструмент управления, а ребенок — игровую мотивацию выполнять реальные задачи.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4681728"/>
            <a:ext cx="2267712" cy="347472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88552" y="4722876"/>
            <a:ext cx="215798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92734"/>
                </a:solidFill>
                <a:latin typeface="Aptos"/>
              </a:rPr>
              <a:t>ГОТОВЫЙ ПРОГРАММНЫЙ КОМПЛЕКС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70448"/>
            <a:ext cx="5394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 Display"/>
              </a:rPr>
              <a:t>Спасибо за внимание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6336792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9ECCD"/>
                </a:solidFill>
                <a:latin typeface="Aptos"/>
              </a:rPr>
              <a:t>Готов ответить на вопросы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912</Words>
  <Application>Microsoft Office PowerPoint</Application>
  <PresentationFormat>Широкоэкранный</PresentationFormat>
  <Paragraphs>220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ВКР И. Д. Ерюшева</dc:title>
  <dc:subject>Геймифицированный ежедневник: Unity, Web, Firebase, аналитика и экспертная система</dc:subject>
  <dc:creator>И. Д. Ерюшев</dc:creator>
  <cp:keywords/>
  <dc:description>Сформировано по итоговой версии ВКР и коду проекта.</dc:description>
  <cp:lastModifiedBy>Иван Иванов</cp:lastModifiedBy>
  <cp:revision>2</cp:revision>
  <dcterms:created xsi:type="dcterms:W3CDTF">2013-01-27T09:14:16Z</dcterms:created>
  <dcterms:modified xsi:type="dcterms:W3CDTF">2026-06-14T20:27:06Z</dcterms:modified>
  <cp:category/>
</cp:coreProperties>
</file>