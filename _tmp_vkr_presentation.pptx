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70" r:id="rId10"/>
    <p:sldId id="265" r:id="rId11"/>
    <p:sldId id="271" r:id="rId12"/>
    <p:sldId id="266" r:id="rId13"/>
    <p:sldId id="267" r:id="rId14"/>
    <p:sldId id="268" r:id="rId15"/>
    <p:sldId id="269" r:id="rId16"/>
  </p:sldIdLst>
  <p:sldSz cx="12192000" cy="6858000"/>
  <p:notesSz cx="6858000" cy="9144000"/>
  <p:embeddedFontLst>
    <p:embeddedFont>
      <p:font typeface="Aptos" panose="020B0004020202020204" pitchFamily="34" charset="0"/>
      <p:regular r:id="rId18"/>
    </p:embeddedFont>
    <p:embeddedFont>
      <p:font typeface="Calibri" panose="020F0502020204030204" pitchFamily="34" charset="0"/>
      <p:regular r:id="rId19"/>
      <p:bold r:id="rId20"/>
      <p:italic r:id="rId21"/>
      <p:boldItalic r:id="rId22"/>
    </p:embeddedFont>
    <p:embeddedFont>
      <p:font typeface="Montserrat" panose="00000500000000000000" pitchFamily="2" charset="-52"/>
      <p:regular r:id="rId23"/>
      <p:bold r:id="rId24"/>
      <p:italic r:id="rId25"/>
      <p:boldItalic r:id="rId26"/>
    </p:embeddedFont>
    <p:embeddedFont>
      <p:font typeface="Montserrat Black" panose="00000A00000000000000" pitchFamily="2" charset="-52"/>
      <p:bold r:id="rId27"/>
      <p:boldItalic r:id="rId2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69A3F"/>
    <a:srgbClr val="117530"/>
    <a:srgbClr val="1CC24F"/>
    <a:srgbClr val="2B3742"/>
    <a:srgbClr val="192734"/>
    <a:srgbClr val="F9ECCD"/>
    <a:srgbClr val="B6A4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125" d="100"/>
          <a:sy n="125" d="100"/>
        </p:scale>
        <p:origin x="720" y="7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D37AD4-F46C-486E-AB39-0506FBA2673F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D28BCF-1A62-455C-83F6-A28DA030B6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81456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D28BCF-1A62-455C-83F6-A28DA030B6F4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01928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D28BCF-1A62-455C-83F6-A28DA030B6F4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84651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D28BCF-1A62-455C-83F6-A28DA030B6F4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28303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D28BCF-1A62-455C-83F6-A28DA030B6F4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0181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itle_bg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301151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220419" cy="6858000"/>
          </a:xfrm>
          <a:prstGeom prst="rect">
            <a:avLst/>
          </a:prstGeom>
          <a:solidFill>
            <a:srgbClr val="192734">
              <a:alpha val="54902"/>
            </a:srgbClr>
          </a:solidFill>
          <a:ln w="12700">
            <a:solidFill>
              <a:srgbClr val="1927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58368" y="594360"/>
            <a:ext cx="2381394" cy="347472"/>
          </a:xfrm>
          <a:prstGeom prst="roundRect">
            <a:avLst/>
          </a:prstGeom>
          <a:solidFill>
            <a:srgbClr val="F9ECCD"/>
          </a:solidFill>
          <a:ln w="12700">
            <a:solidFill>
              <a:srgbClr val="F9EC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0237" y="648063"/>
            <a:ext cx="2499525" cy="24006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ru-RU" sz="1200" b="1" dirty="0">
                <a:solidFill>
                  <a:srgbClr val="192734"/>
                </a:solidFill>
                <a:latin typeface="Aptos"/>
              </a:rPr>
              <a:t>КУРСОВАЯ </a:t>
            </a:r>
            <a:r>
              <a:rPr sz="1200" b="1" dirty="0">
                <a:solidFill>
                  <a:srgbClr val="192734"/>
                </a:solidFill>
                <a:latin typeface="Aptos"/>
              </a:rPr>
              <a:t>РАБОТА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7" y="1430832"/>
            <a:ext cx="8701875" cy="227139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ru-RU" sz="3600" b="1" dirty="0">
                <a:solidFill>
                  <a:srgbClr val="FFFFFF"/>
                </a:solidFill>
                <a:latin typeface="Montserrat Black" panose="00000A00000000000000" pitchFamily="2" charset="-52"/>
              </a:rPr>
              <a:t>Расширение функциональных возможностей </a:t>
            </a:r>
            <a:r>
              <a:rPr lang="ru-RU" sz="3600" b="1" dirty="0" err="1">
                <a:solidFill>
                  <a:srgbClr val="FFFFFF"/>
                </a:solidFill>
                <a:latin typeface="Montserrat Black" panose="00000A00000000000000" pitchFamily="2" charset="-52"/>
              </a:rPr>
              <a:t>геймифицированного</a:t>
            </a:r>
            <a:r>
              <a:rPr lang="ru-RU" sz="3600" b="1" dirty="0">
                <a:solidFill>
                  <a:srgbClr val="FFFFFF"/>
                </a:solidFill>
                <a:latin typeface="Montserrat Black" panose="00000A00000000000000" pitchFamily="2" charset="-52"/>
              </a:rPr>
              <a:t> приложения-ежедневника</a:t>
            </a:r>
            <a:endParaRPr sz="3600" b="1" dirty="0">
              <a:solidFill>
                <a:srgbClr val="FFFFFF"/>
              </a:solidFill>
              <a:latin typeface="Montserrat Black" panose="00000A00000000000000" pitchFamily="2" charset="-5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58368" y="4010215"/>
            <a:ext cx="7040880" cy="54784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dirty="0" err="1">
                <a:solidFill>
                  <a:srgbClr val="F9ECCD"/>
                </a:solidFill>
                <a:latin typeface="Aptos"/>
              </a:rPr>
              <a:t>Обновленная</a:t>
            </a:r>
            <a:r>
              <a:rPr sz="1600" b="1" dirty="0">
                <a:solidFill>
                  <a:srgbClr val="F9ECCD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F9ECCD"/>
                </a:solidFill>
                <a:latin typeface="Aptos"/>
              </a:rPr>
              <a:t>клиент-серверная</a:t>
            </a:r>
            <a:r>
              <a:rPr sz="1600" b="1" dirty="0">
                <a:solidFill>
                  <a:srgbClr val="F9ECCD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F9ECCD"/>
                </a:solidFill>
                <a:latin typeface="Aptos"/>
              </a:rPr>
              <a:t>система</a:t>
            </a:r>
            <a:r>
              <a:rPr lang="ru-RU" sz="1600" b="1" dirty="0">
                <a:solidFill>
                  <a:srgbClr val="F9ECCD"/>
                </a:solidFill>
                <a:latin typeface="Aptos"/>
              </a:rPr>
              <a:t>, новая экспертно-рекомендательная система</a:t>
            </a:r>
            <a:endParaRPr sz="1600" b="1" dirty="0">
              <a:solidFill>
                <a:srgbClr val="F9ECCD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677252" y="5895826"/>
            <a:ext cx="3566160" cy="4247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ru-RU" sz="1200" dirty="0">
                <a:solidFill>
                  <a:schemeClr val="bg2">
                    <a:lumMod val="50000"/>
                  </a:schemeClr>
                </a:solidFill>
                <a:latin typeface="Aptos"/>
              </a:rPr>
              <a:t>Работу подготовил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Aptos"/>
              </a:rPr>
              <a:t>:</a:t>
            </a:r>
            <a:r>
              <a:rPr lang="ru-RU" sz="1200" dirty="0">
                <a:solidFill>
                  <a:schemeClr val="bg2">
                    <a:lumMod val="50000"/>
                  </a:schemeClr>
                </a:solidFill>
                <a:latin typeface="Aptos"/>
              </a:rPr>
              <a:t> Ерюшев И. Д.</a:t>
            </a:r>
            <a:r>
              <a:rPr sz="1200" b="0" dirty="0">
                <a:solidFill>
                  <a:schemeClr val="bg2">
                    <a:lumMod val="50000"/>
                  </a:schemeClr>
                </a:solidFill>
                <a:latin typeface="Aptos"/>
              </a:rPr>
              <a:t> 
</a:t>
            </a:r>
            <a:r>
              <a:rPr sz="1200" b="0" dirty="0" err="1">
                <a:solidFill>
                  <a:schemeClr val="bg2">
                    <a:lumMod val="50000"/>
                  </a:schemeClr>
                </a:solidFill>
                <a:latin typeface="Aptos"/>
              </a:rPr>
              <a:t>Научный</a:t>
            </a:r>
            <a:r>
              <a:rPr sz="1200" b="0" dirty="0">
                <a:solidFill>
                  <a:schemeClr val="bg2">
                    <a:lumMod val="50000"/>
                  </a:schemeClr>
                </a:solidFill>
                <a:latin typeface="Aptos"/>
              </a:rPr>
              <a:t> </a:t>
            </a:r>
            <a:r>
              <a:rPr sz="1200" b="0" dirty="0" err="1">
                <a:solidFill>
                  <a:schemeClr val="bg2">
                    <a:lumMod val="50000"/>
                  </a:schemeClr>
                </a:solidFill>
                <a:latin typeface="Aptos"/>
              </a:rPr>
              <a:t>руководитель</a:t>
            </a:r>
            <a:r>
              <a:rPr sz="1200" b="0" dirty="0">
                <a:solidFill>
                  <a:schemeClr val="bg2">
                    <a:lumMod val="50000"/>
                  </a:schemeClr>
                </a:solidFill>
                <a:latin typeface="Aptos"/>
              </a:rPr>
              <a:t>: </a:t>
            </a:r>
            <a:r>
              <a:rPr sz="1200" b="0" dirty="0" err="1">
                <a:solidFill>
                  <a:schemeClr val="bg2">
                    <a:lumMod val="50000"/>
                  </a:schemeClr>
                </a:solidFill>
                <a:latin typeface="Aptos"/>
              </a:rPr>
              <a:t>Акиньшина</a:t>
            </a:r>
            <a:r>
              <a:rPr lang="en-US" sz="1200" b="0" dirty="0">
                <a:solidFill>
                  <a:schemeClr val="bg2">
                    <a:lumMod val="50000"/>
                  </a:schemeClr>
                </a:solidFill>
                <a:latin typeface="Aptos"/>
              </a:rPr>
              <a:t> </a:t>
            </a:r>
            <a:r>
              <a:rPr lang="ru-RU" sz="1200" b="0" dirty="0">
                <a:solidFill>
                  <a:schemeClr val="bg2">
                    <a:lumMod val="50000"/>
                  </a:schemeClr>
                </a:solidFill>
                <a:latin typeface="Aptos"/>
              </a:rPr>
              <a:t>В. А. </a:t>
            </a:r>
            <a:endParaRPr sz="1200" b="0" dirty="0">
              <a:solidFill>
                <a:schemeClr val="bg2">
                  <a:lumMod val="50000"/>
                </a:schemeClr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51785" y="6118325"/>
            <a:ext cx="2194560" cy="22467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dirty="0" err="1">
                <a:solidFill>
                  <a:schemeClr val="bg2">
                    <a:lumMod val="50000"/>
                  </a:schemeClr>
                </a:solidFill>
                <a:latin typeface="Aptos"/>
              </a:rPr>
              <a:t>Краснодар</a:t>
            </a:r>
            <a:r>
              <a:rPr sz="1100" b="0" dirty="0">
                <a:solidFill>
                  <a:schemeClr val="bg2">
                    <a:lumMod val="50000"/>
                  </a:schemeClr>
                </a:solidFill>
                <a:latin typeface="Aptos"/>
              </a:rPr>
              <a:t>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39728" y="6473952"/>
            <a:ext cx="365760" cy="1938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dirty="0">
                <a:solidFill>
                  <a:schemeClr val="bg1">
                    <a:lumMod val="95000"/>
                  </a:schemeClr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B"/>
          </a:solidFill>
          <a:ln w="12700">
            <a:solidFill>
              <a:srgbClr val="F7F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92734">
              <a:alpha val="87843"/>
            </a:srgbClr>
          </a:solidFill>
          <a:ln w="12700">
            <a:solidFill>
              <a:srgbClr val="1D5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881360" cy="5016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dirty="0" err="1">
                <a:solidFill>
                  <a:srgbClr val="192734"/>
                </a:solidFill>
                <a:latin typeface="Montserrat Black" panose="00000A00000000000000" pitchFamily="2" charset="-52"/>
              </a:rPr>
              <a:t>Проблема</a:t>
            </a:r>
            <a:r>
              <a:rPr sz="2800" b="1" dirty="0">
                <a:solidFill>
                  <a:srgbClr val="192734"/>
                </a:solidFill>
                <a:latin typeface="Montserrat Black" panose="00000A00000000000000" pitchFamily="2" charset="-52"/>
              </a:rPr>
              <a:t>, </a:t>
            </a:r>
            <a:r>
              <a:rPr sz="2800" b="1" dirty="0" err="1">
                <a:solidFill>
                  <a:srgbClr val="192734"/>
                </a:solidFill>
                <a:latin typeface="Montserrat Black" panose="00000A00000000000000" pitchFamily="2" charset="-52"/>
              </a:rPr>
              <a:t>цель</a:t>
            </a:r>
            <a:r>
              <a:rPr sz="2800" b="1" dirty="0">
                <a:solidFill>
                  <a:srgbClr val="192734"/>
                </a:solidFill>
                <a:latin typeface="Montserrat Black" panose="00000A00000000000000" pitchFamily="2" charset="-52"/>
              </a:rPr>
              <a:t> и </a:t>
            </a:r>
            <a:r>
              <a:rPr sz="2800" b="1" dirty="0" err="1">
                <a:solidFill>
                  <a:srgbClr val="192734"/>
                </a:solidFill>
                <a:latin typeface="Montserrat Black" panose="00000A00000000000000" pitchFamily="2" charset="-52"/>
              </a:rPr>
              <a:t>задачи</a:t>
            </a:r>
            <a:endParaRPr sz="2800" b="1" dirty="0">
              <a:solidFill>
                <a:srgbClr val="192734"/>
              </a:solidFill>
              <a:latin typeface="Montserrat Black" panose="00000A00000000000000" pitchFamily="2" charset="-5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30352" y="941832"/>
            <a:ext cx="960120" cy="54864"/>
          </a:xfrm>
          <a:prstGeom prst="rect">
            <a:avLst/>
          </a:prstGeom>
          <a:solidFill>
            <a:srgbClr val="CC8F25"/>
          </a:solidFill>
          <a:ln w="12700">
            <a:solidFill>
              <a:srgbClr val="CC8F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539728" y="6473952"/>
            <a:ext cx="36576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3636C"/>
                </a:solidFill>
                <a:latin typeface="Aptos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" y="1536192"/>
            <a:ext cx="3566160" cy="4526280"/>
          </a:xfrm>
          <a:prstGeom prst="roundRect">
            <a:avLst>
              <a:gd name="adj" fmla="val 4060"/>
            </a:avLst>
          </a:prstGeom>
          <a:solidFill>
            <a:srgbClr val="FFFDF8"/>
          </a:solidFill>
          <a:ln w="12700">
            <a:solidFill>
              <a:srgbClr val="F9EC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8372" y="1642872"/>
            <a:ext cx="2926080" cy="48628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dirty="0" err="1">
                <a:solidFill>
                  <a:srgbClr val="AE4A37"/>
                </a:solidFill>
                <a:latin typeface="Aptos"/>
              </a:rPr>
              <a:t>Проблема</a:t>
            </a:r>
            <a:endParaRPr sz="2700" b="1" dirty="0">
              <a:solidFill>
                <a:srgbClr val="AE4A37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98372" y="2107070"/>
            <a:ext cx="2971800" cy="1417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 dirty="0" err="1">
                <a:solidFill>
                  <a:srgbClr val="192734"/>
                </a:solidFill>
                <a:latin typeface="Aptos"/>
              </a:rPr>
              <a:t>Обычный</a:t>
            </a:r>
            <a:r>
              <a:rPr sz="1900" b="0" dirty="0">
                <a:solidFill>
                  <a:srgbClr val="192734"/>
                </a:solidFill>
                <a:latin typeface="Aptos"/>
              </a:rPr>
              <a:t> </a:t>
            </a:r>
            <a:r>
              <a:rPr sz="1900" b="0" dirty="0" err="1">
                <a:solidFill>
                  <a:srgbClr val="192734"/>
                </a:solidFill>
                <a:latin typeface="Aptos"/>
              </a:rPr>
              <a:t>список</a:t>
            </a:r>
            <a:r>
              <a:rPr sz="1900" b="0" dirty="0">
                <a:solidFill>
                  <a:srgbClr val="192734"/>
                </a:solidFill>
                <a:latin typeface="Aptos"/>
              </a:rPr>
              <a:t> </a:t>
            </a:r>
            <a:r>
              <a:rPr sz="1900" b="0" dirty="0" err="1">
                <a:solidFill>
                  <a:srgbClr val="192734"/>
                </a:solidFill>
                <a:latin typeface="Aptos"/>
              </a:rPr>
              <a:t>дел</a:t>
            </a:r>
            <a:r>
              <a:rPr sz="1900" b="0" dirty="0">
                <a:solidFill>
                  <a:srgbClr val="192734"/>
                </a:solidFill>
                <a:latin typeface="Aptos"/>
              </a:rPr>
              <a:t> </a:t>
            </a:r>
            <a:r>
              <a:rPr sz="1900" b="0" dirty="0" err="1">
                <a:solidFill>
                  <a:srgbClr val="192734"/>
                </a:solidFill>
                <a:latin typeface="Aptos"/>
              </a:rPr>
              <a:t>слабо</a:t>
            </a:r>
            <a:r>
              <a:rPr sz="1900" b="0" dirty="0">
                <a:solidFill>
                  <a:srgbClr val="192734"/>
                </a:solidFill>
                <a:latin typeface="Aptos"/>
              </a:rPr>
              <a:t> </a:t>
            </a:r>
            <a:r>
              <a:rPr sz="1900" b="0" dirty="0" err="1">
                <a:solidFill>
                  <a:srgbClr val="192734"/>
                </a:solidFill>
                <a:latin typeface="Aptos"/>
              </a:rPr>
              <a:t>мотивирует</a:t>
            </a:r>
            <a:r>
              <a:rPr sz="1900" b="0" dirty="0">
                <a:solidFill>
                  <a:srgbClr val="192734"/>
                </a:solidFill>
                <a:latin typeface="Aptos"/>
              </a:rPr>
              <a:t> </a:t>
            </a:r>
            <a:r>
              <a:rPr sz="1900" b="0" dirty="0" err="1">
                <a:solidFill>
                  <a:srgbClr val="192734"/>
                </a:solidFill>
                <a:latin typeface="Aptos"/>
              </a:rPr>
              <a:t>ребенка</a:t>
            </a:r>
            <a:r>
              <a:rPr sz="1900" b="0" dirty="0">
                <a:solidFill>
                  <a:srgbClr val="192734"/>
                </a:solidFill>
                <a:latin typeface="Aptos"/>
              </a:rPr>
              <a:t>, а </a:t>
            </a:r>
            <a:r>
              <a:rPr sz="1900" b="0" dirty="0" err="1">
                <a:solidFill>
                  <a:srgbClr val="192734"/>
                </a:solidFill>
                <a:latin typeface="Aptos"/>
              </a:rPr>
              <a:t>отдельная</a:t>
            </a:r>
            <a:r>
              <a:rPr sz="1900" b="0" dirty="0">
                <a:solidFill>
                  <a:srgbClr val="192734"/>
                </a:solidFill>
                <a:latin typeface="Aptos"/>
              </a:rPr>
              <a:t> </a:t>
            </a:r>
            <a:r>
              <a:rPr sz="1900" b="0" dirty="0" err="1">
                <a:solidFill>
                  <a:srgbClr val="192734"/>
                </a:solidFill>
                <a:latin typeface="Aptos"/>
              </a:rPr>
              <a:t>игра</a:t>
            </a:r>
            <a:r>
              <a:rPr sz="1900" b="0" dirty="0">
                <a:solidFill>
                  <a:srgbClr val="192734"/>
                </a:solidFill>
                <a:latin typeface="Aptos"/>
              </a:rPr>
              <a:t> </a:t>
            </a:r>
            <a:r>
              <a:rPr sz="1900" b="0" dirty="0" err="1">
                <a:solidFill>
                  <a:srgbClr val="192734"/>
                </a:solidFill>
                <a:latin typeface="Aptos"/>
              </a:rPr>
              <a:t>не</a:t>
            </a:r>
            <a:r>
              <a:rPr sz="1900" b="0" dirty="0">
                <a:solidFill>
                  <a:srgbClr val="192734"/>
                </a:solidFill>
                <a:latin typeface="Aptos"/>
              </a:rPr>
              <a:t> </a:t>
            </a:r>
            <a:r>
              <a:rPr sz="1900" b="0" dirty="0" err="1">
                <a:solidFill>
                  <a:srgbClr val="192734"/>
                </a:solidFill>
                <a:latin typeface="Aptos"/>
              </a:rPr>
              <a:t>связывает</a:t>
            </a:r>
            <a:r>
              <a:rPr sz="1900" b="0" dirty="0">
                <a:solidFill>
                  <a:srgbClr val="192734"/>
                </a:solidFill>
                <a:latin typeface="Aptos"/>
              </a:rPr>
              <a:t> </a:t>
            </a:r>
            <a:r>
              <a:rPr sz="1900" b="0" dirty="0" err="1">
                <a:solidFill>
                  <a:srgbClr val="192734"/>
                </a:solidFill>
                <a:latin typeface="Aptos"/>
              </a:rPr>
              <a:t>цифровой</a:t>
            </a:r>
            <a:r>
              <a:rPr sz="1900" b="0" dirty="0">
                <a:solidFill>
                  <a:srgbClr val="192734"/>
                </a:solidFill>
                <a:latin typeface="Aptos"/>
              </a:rPr>
              <a:t> </a:t>
            </a:r>
            <a:r>
              <a:rPr sz="1900" b="0" dirty="0" err="1">
                <a:solidFill>
                  <a:srgbClr val="192734"/>
                </a:solidFill>
                <a:latin typeface="Aptos"/>
              </a:rPr>
              <a:t>прогресс</a:t>
            </a:r>
            <a:r>
              <a:rPr sz="1900" b="0" dirty="0">
                <a:solidFill>
                  <a:srgbClr val="192734"/>
                </a:solidFill>
                <a:latin typeface="Aptos"/>
              </a:rPr>
              <a:t> с </a:t>
            </a:r>
            <a:r>
              <a:rPr sz="1900" b="0" dirty="0" err="1">
                <a:solidFill>
                  <a:srgbClr val="192734"/>
                </a:solidFill>
                <a:latin typeface="Aptos"/>
              </a:rPr>
              <a:t>полезными</a:t>
            </a:r>
            <a:r>
              <a:rPr sz="1900" b="0" dirty="0">
                <a:solidFill>
                  <a:srgbClr val="192734"/>
                </a:solidFill>
                <a:latin typeface="Aptos"/>
              </a:rPr>
              <a:t> </a:t>
            </a:r>
            <a:r>
              <a:rPr sz="1900" b="0" dirty="0" err="1">
                <a:solidFill>
                  <a:srgbClr val="192734"/>
                </a:solidFill>
                <a:latin typeface="Aptos"/>
              </a:rPr>
              <a:t>действиями</a:t>
            </a:r>
            <a:r>
              <a:rPr sz="1900" b="0" dirty="0">
                <a:solidFill>
                  <a:srgbClr val="192734"/>
                </a:solidFill>
                <a:latin typeface="Aptos"/>
              </a:rPr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8372" y="4398264"/>
            <a:ext cx="3264028" cy="1475232"/>
          </a:xfrm>
          <a:prstGeom prst="roundRect">
            <a:avLst>
              <a:gd name="adj" fmla="val 12535"/>
            </a:avLst>
          </a:prstGeom>
          <a:solidFill>
            <a:srgbClr val="F7E2DD"/>
          </a:solidFill>
          <a:ln w="12700">
            <a:solidFill>
              <a:srgbClr val="F7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2" y="4529328"/>
            <a:ext cx="256032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dirty="0" err="1">
                <a:solidFill>
                  <a:srgbClr val="AE4A37"/>
                </a:solidFill>
                <a:latin typeface="Aptos"/>
              </a:rPr>
              <a:t>Нужен</a:t>
            </a:r>
            <a:r>
              <a:rPr sz="1500" b="1" dirty="0">
                <a:solidFill>
                  <a:srgbClr val="AE4A37"/>
                </a:solidFill>
                <a:latin typeface="Aptos"/>
              </a:rPr>
              <a:t> </a:t>
            </a:r>
            <a:r>
              <a:rPr sz="1500" b="1" dirty="0" err="1">
                <a:solidFill>
                  <a:srgbClr val="AE4A37"/>
                </a:solidFill>
                <a:latin typeface="Aptos"/>
              </a:rPr>
              <a:t>общий</a:t>
            </a:r>
            <a:r>
              <a:rPr sz="1500" b="1" dirty="0">
                <a:solidFill>
                  <a:srgbClr val="AE4A37"/>
                </a:solidFill>
                <a:latin typeface="Aptos"/>
              </a:rPr>
              <a:t> </a:t>
            </a:r>
            <a:r>
              <a:rPr sz="1500" b="1" dirty="0" err="1">
                <a:solidFill>
                  <a:srgbClr val="AE4A37"/>
                </a:solidFill>
                <a:latin typeface="Aptos"/>
              </a:rPr>
              <a:t>процесс</a:t>
            </a:r>
            <a:r>
              <a:rPr sz="1500" b="1" dirty="0">
                <a:solidFill>
                  <a:srgbClr val="AE4A37"/>
                </a:solidFill>
                <a:latin typeface="Aptos"/>
              </a:rPr>
              <a:t>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4192" y="4910328"/>
            <a:ext cx="3081528" cy="70173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1400" dirty="0">
                <a:solidFill>
                  <a:srgbClr val="192734"/>
                </a:solidFill>
                <a:latin typeface="Aptos"/>
              </a:rPr>
              <a:t>1) </a:t>
            </a:r>
            <a:r>
              <a:rPr lang="en-US" sz="1400" dirty="0" err="1">
                <a:solidFill>
                  <a:srgbClr val="192734"/>
                </a:solidFill>
                <a:latin typeface="Aptos"/>
              </a:rPr>
              <a:t>P</a:t>
            </a:r>
            <a:r>
              <a:rPr sz="1400" b="0" dirty="0" err="1">
                <a:solidFill>
                  <a:srgbClr val="192734"/>
                </a:solidFill>
                <a:latin typeface="Aptos"/>
              </a:rPr>
              <a:t>одитель</a:t>
            </a:r>
            <a:r>
              <a:rPr sz="1400" b="0" dirty="0">
                <a:solidFill>
                  <a:srgbClr val="192734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192734"/>
                </a:solidFill>
                <a:latin typeface="Aptos"/>
              </a:rPr>
              <a:t>назначает</a:t>
            </a:r>
            <a:r>
              <a:rPr sz="1400" b="0" dirty="0">
                <a:solidFill>
                  <a:srgbClr val="192734"/>
                </a:solidFill>
                <a:latin typeface="Aptos"/>
              </a:rPr>
              <a:t> </a:t>
            </a:r>
            <a:endParaRPr lang="en-US" sz="1400" b="0" dirty="0">
              <a:solidFill>
                <a:srgbClr val="192734"/>
              </a:solidFill>
              <a:latin typeface="Aptos"/>
            </a:endParaRPr>
          </a:p>
          <a:p>
            <a:pPr algn="l">
              <a:spcAft>
                <a:spcPts val="0"/>
              </a:spcAft>
            </a:pPr>
            <a:r>
              <a:rPr lang="en-US" sz="1400" dirty="0">
                <a:solidFill>
                  <a:srgbClr val="192734"/>
                </a:solidFill>
                <a:latin typeface="Aptos"/>
              </a:rPr>
              <a:t>2) </a:t>
            </a:r>
            <a:r>
              <a:rPr lang="en-US" sz="1400" dirty="0" err="1">
                <a:solidFill>
                  <a:srgbClr val="192734"/>
                </a:solidFill>
                <a:latin typeface="Aptos"/>
              </a:rPr>
              <a:t>P</a:t>
            </a:r>
            <a:r>
              <a:rPr sz="1400" b="0" dirty="0" err="1">
                <a:solidFill>
                  <a:srgbClr val="192734"/>
                </a:solidFill>
                <a:latin typeface="Aptos"/>
              </a:rPr>
              <a:t>ебенок</a:t>
            </a:r>
            <a:r>
              <a:rPr sz="1400" b="0" dirty="0">
                <a:solidFill>
                  <a:srgbClr val="192734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192734"/>
                </a:solidFill>
                <a:latin typeface="Aptos"/>
              </a:rPr>
              <a:t>выполняет</a:t>
            </a:r>
            <a:r>
              <a:rPr sz="1400" b="0" dirty="0">
                <a:solidFill>
                  <a:srgbClr val="192734"/>
                </a:solidFill>
                <a:latin typeface="Aptos"/>
              </a:rPr>
              <a:t> </a:t>
            </a:r>
            <a:endParaRPr lang="en-US" sz="1400" b="0" dirty="0">
              <a:solidFill>
                <a:srgbClr val="192734"/>
              </a:solidFill>
              <a:latin typeface="Aptos"/>
            </a:endParaRPr>
          </a:p>
          <a:p>
            <a:pPr algn="l">
              <a:spcAft>
                <a:spcPts val="0"/>
              </a:spcAft>
            </a:pPr>
            <a:r>
              <a:rPr lang="en-US" sz="1400" dirty="0">
                <a:solidFill>
                  <a:srgbClr val="192734"/>
                </a:solidFill>
                <a:latin typeface="Aptos"/>
              </a:rPr>
              <a:t>3) </a:t>
            </a:r>
            <a:r>
              <a:rPr lang="en-US" sz="1400" dirty="0" err="1">
                <a:solidFill>
                  <a:srgbClr val="192734"/>
                </a:solidFill>
                <a:latin typeface="Aptos"/>
              </a:rPr>
              <a:t>C</a:t>
            </a:r>
            <a:r>
              <a:rPr sz="1400" b="0" dirty="0" err="1">
                <a:solidFill>
                  <a:srgbClr val="192734"/>
                </a:solidFill>
                <a:latin typeface="Aptos"/>
              </a:rPr>
              <a:t>истема</a:t>
            </a:r>
            <a:r>
              <a:rPr sz="1400" b="0" dirty="0">
                <a:solidFill>
                  <a:srgbClr val="192734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192734"/>
                </a:solidFill>
                <a:latin typeface="Aptos"/>
              </a:rPr>
              <a:t>подтверждает</a:t>
            </a:r>
            <a:r>
              <a:rPr sz="1400" b="0" dirty="0">
                <a:solidFill>
                  <a:srgbClr val="192734"/>
                </a:solidFill>
                <a:latin typeface="Aptos"/>
              </a:rPr>
              <a:t> и </a:t>
            </a:r>
            <a:r>
              <a:rPr sz="1400" b="0" dirty="0" err="1">
                <a:solidFill>
                  <a:srgbClr val="192734"/>
                </a:solidFill>
                <a:latin typeface="Aptos"/>
              </a:rPr>
              <a:t>награждает</a:t>
            </a:r>
            <a:endParaRPr sz="1400" b="0" dirty="0">
              <a:solidFill>
                <a:srgbClr val="192734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407408" y="1536192"/>
            <a:ext cx="7251192" cy="1856231"/>
          </a:xfrm>
          <a:prstGeom prst="roundRect">
            <a:avLst>
              <a:gd name="adj" fmla="val 5994"/>
            </a:avLst>
          </a:prstGeom>
          <a:solidFill>
            <a:srgbClr val="DEEDE5"/>
          </a:solidFill>
          <a:ln w="12700">
            <a:solidFill>
              <a:srgbClr val="DEE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09160" y="1685544"/>
            <a:ext cx="1097280" cy="48628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dirty="0" err="1">
                <a:solidFill>
                  <a:srgbClr val="1D5B45"/>
                </a:solidFill>
                <a:latin typeface="Aptos"/>
              </a:rPr>
              <a:t>Цель</a:t>
            </a:r>
            <a:endParaRPr sz="2700" b="1" dirty="0">
              <a:solidFill>
                <a:srgbClr val="1D5B45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709160" y="2212848"/>
            <a:ext cx="6492240" cy="8229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dirty="0" err="1">
                <a:solidFill>
                  <a:srgbClr val="192734"/>
                </a:solidFill>
                <a:latin typeface="Aptos"/>
              </a:rPr>
              <a:t>Развить</a:t>
            </a:r>
            <a:r>
              <a:rPr sz="1800" b="0" dirty="0">
                <a:solidFill>
                  <a:srgbClr val="192734"/>
                </a:solidFill>
                <a:latin typeface="Aptos"/>
              </a:rPr>
              <a:t> Unity-</a:t>
            </a:r>
            <a:r>
              <a:rPr sz="1800" b="0" dirty="0" err="1">
                <a:solidFill>
                  <a:srgbClr val="192734"/>
                </a:solidFill>
                <a:latin typeface="Aptos"/>
              </a:rPr>
              <a:t>прототип</a:t>
            </a:r>
            <a:r>
              <a:rPr sz="1800" b="0" dirty="0">
                <a:solidFill>
                  <a:srgbClr val="192734"/>
                </a:solidFill>
                <a:latin typeface="Aptos"/>
              </a:rPr>
              <a:t> </a:t>
            </a:r>
            <a:r>
              <a:rPr sz="1800" b="0" dirty="0" err="1">
                <a:solidFill>
                  <a:srgbClr val="192734"/>
                </a:solidFill>
                <a:latin typeface="Aptos"/>
              </a:rPr>
              <a:t>до</a:t>
            </a:r>
            <a:r>
              <a:rPr sz="1800" b="0" dirty="0">
                <a:solidFill>
                  <a:srgbClr val="192734"/>
                </a:solidFill>
                <a:latin typeface="Aptos"/>
              </a:rPr>
              <a:t> </a:t>
            </a:r>
            <a:r>
              <a:rPr sz="1800" b="0" dirty="0" err="1">
                <a:solidFill>
                  <a:srgbClr val="192734"/>
                </a:solidFill>
                <a:latin typeface="Aptos"/>
              </a:rPr>
              <a:t>целостной</a:t>
            </a:r>
            <a:r>
              <a:rPr sz="1800" b="0" dirty="0">
                <a:solidFill>
                  <a:srgbClr val="192734"/>
                </a:solidFill>
                <a:latin typeface="Aptos"/>
              </a:rPr>
              <a:t> </a:t>
            </a:r>
            <a:r>
              <a:rPr sz="1800" b="0" dirty="0" err="1">
                <a:solidFill>
                  <a:srgbClr val="192734"/>
                </a:solidFill>
                <a:latin typeface="Aptos"/>
              </a:rPr>
              <a:t>клиент-серверной</a:t>
            </a:r>
            <a:r>
              <a:rPr sz="1800" b="0" dirty="0">
                <a:solidFill>
                  <a:srgbClr val="192734"/>
                </a:solidFill>
                <a:latin typeface="Aptos"/>
              </a:rPr>
              <a:t> </a:t>
            </a:r>
            <a:r>
              <a:rPr sz="1800" b="0" dirty="0" err="1">
                <a:solidFill>
                  <a:srgbClr val="192734"/>
                </a:solidFill>
                <a:latin typeface="Aptos"/>
              </a:rPr>
              <a:t>системы</a:t>
            </a:r>
            <a:r>
              <a:rPr sz="1800" b="0" dirty="0">
                <a:solidFill>
                  <a:srgbClr val="192734"/>
                </a:solidFill>
                <a:latin typeface="Aptos"/>
              </a:rPr>
              <a:t> с web-</a:t>
            </a:r>
            <a:r>
              <a:rPr sz="1800" b="0" dirty="0" err="1">
                <a:solidFill>
                  <a:srgbClr val="192734"/>
                </a:solidFill>
                <a:latin typeface="Aptos"/>
              </a:rPr>
              <a:t>интерфейсом</a:t>
            </a:r>
            <a:r>
              <a:rPr sz="1800" b="0" dirty="0">
                <a:solidFill>
                  <a:srgbClr val="192734"/>
                </a:solidFill>
                <a:latin typeface="Aptos"/>
              </a:rPr>
              <a:t> </a:t>
            </a:r>
            <a:r>
              <a:rPr sz="1800" b="0" dirty="0" err="1">
                <a:solidFill>
                  <a:srgbClr val="192734"/>
                </a:solidFill>
                <a:latin typeface="Aptos"/>
              </a:rPr>
              <a:t>родителя</a:t>
            </a:r>
            <a:r>
              <a:rPr sz="1800" b="0" dirty="0">
                <a:solidFill>
                  <a:srgbClr val="192734"/>
                </a:solidFill>
                <a:latin typeface="Aptos"/>
              </a:rPr>
              <a:t>, </a:t>
            </a:r>
            <a:r>
              <a:rPr sz="1800" b="0" dirty="0" err="1">
                <a:solidFill>
                  <a:srgbClr val="192734"/>
                </a:solidFill>
                <a:latin typeface="Aptos"/>
              </a:rPr>
              <a:t>синхронизацией</a:t>
            </a:r>
            <a:r>
              <a:rPr sz="1800" b="0" dirty="0">
                <a:solidFill>
                  <a:srgbClr val="192734"/>
                </a:solidFill>
                <a:latin typeface="Aptos"/>
              </a:rPr>
              <a:t> </a:t>
            </a:r>
            <a:r>
              <a:rPr sz="1800" b="0" dirty="0" err="1">
                <a:solidFill>
                  <a:srgbClr val="192734"/>
                </a:solidFill>
                <a:latin typeface="Aptos"/>
              </a:rPr>
              <a:t>заданий</a:t>
            </a:r>
            <a:r>
              <a:rPr sz="1800" b="0" dirty="0">
                <a:solidFill>
                  <a:srgbClr val="192734"/>
                </a:solidFill>
                <a:latin typeface="Aptos"/>
              </a:rPr>
              <a:t>, </a:t>
            </a:r>
            <a:r>
              <a:rPr sz="1800" b="0" dirty="0" err="1">
                <a:solidFill>
                  <a:srgbClr val="192734"/>
                </a:solidFill>
                <a:latin typeface="Aptos"/>
              </a:rPr>
              <a:t>аналитикой</a:t>
            </a:r>
            <a:r>
              <a:rPr sz="1800" b="0" dirty="0">
                <a:solidFill>
                  <a:srgbClr val="192734"/>
                </a:solidFill>
                <a:latin typeface="Aptos"/>
              </a:rPr>
              <a:t> и </a:t>
            </a:r>
            <a:r>
              <a:rPr sz="1800" b="0" dirty="0" err="1">
                <a:solidFill>
                  <a:srgbClr val="192734"/>
                </a:solidFill>
                <a:latin typeface="Aptos"/>
              </a:rPr>
              <a:t>объяснимыми</a:t>
            </a:r>
            <a:r>
              <a:rPr sz="1800" b="0" dirty="0">
                <a:solidFill>
                  <a:srgbClr val="192734"/>
                </a:solidFill>
                <a:latin typeface="Aptos"/>
              </a:rPr>
              <a:t> </a:t>
            </a:r>
            <a:r>
              <a:rPr sz="1800" b="0" dirty="0" err="1">
                <a:solidFill>
                  <a:srgbClr val="192734"/>
                </a:solidFill>
                <a:latin typeface="Aptos"/>
              </a:rPr>
              <a:t>рекомендациями</a:t>
            </a:r>
            <a:r>
              <a:rPr sz="1800" b="0" dirty="0">
                <a:solidFill>
                  <a:srgbClr val="192734"/>
                </a:solidFill>
                <a:latin typeface="Aptos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62272" y="3712463"/>
            <a:ext cx="292608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dirty="0" err="1">
                <a:solidFill>
                  <a:srgbClr val="192734"/>
                </a:solidFill>
                <a:latin typeface="Aptos"/>
              </a:rPr>
              <a:t>Ключевые</a:t>
            </a:r>
            <a:r>
              <a:rPr sz="2100" b="1" dirty="0">
                <a:solidFill>
                  <a:srgbClr val="192734"/>
                </a:solidFill>
                <a:latin typeface="Aptos"/>
              </a:rPr>
              <a:t> </a:t>
            </a:r>
            <a:r>
              <a:rPr sz="2100" b="1" dirty="0" err="1">
                <a:solidFill>
                  <a:srgbClr val="192734"/>
                </a:solidFill>
                <a:latin typeface="Aptos"/>
              </a:rPr>
              <a:t>задачи</a:t>
            </a:r>
            <a:endParaRPr sz="2100" b="1" dirty="0">
              <a:solidFill>
                <a:srgbClr val="192734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526280" y="4187952"/>
            <a:ext cx="6629400" cy="1600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dirty="0">
                <a:solidFill>
                  <a:srgbClr val="CC8F25"/>
                </a:solidFill>
                <a:latin typeface="Aptos"/>
              </a:rPr>
              <a:t>●  </a:t>
            </a:r>
            <a:r>
              <a:rPr sz="1650" dirty="0" err="1">
                <a:solidFill>
                  <a:srgbClr val="192734"/>
                </a:solidFill>
                <a:latin typeface="Aptos"/>
              </a:rPr>
              <a:t>разделить</a:t>
            </a:r>
            <a:r>
              <a:rPr sz="1650" dirty="0">
                <a:solidFill>
                  <a:srgbClr val="192734"/>
                </a:solidFill>
                <a:latin typeface="Aptos"/>
              </a:rPr>
              <a:t> </a:t>
            </a:r>
            <a:r>
              <a:rPr sz="1650" dirty="0" err="1">
                <a:solidFill>
                  <a:srgbClr val="192734"/>
                </a:solidFill>
                <a:latin typeface="Aptos"/>
              </a:rPr>
              <a:t>интерфейсы</a:t>
            </a:r>
            <a:r>
              <a:rPr sz="1650" dirty="0">
                <a:solidFill>
                  <a:srgbClr val="192734"/>
                </a:solidFill>
                <a:latin typeface="Aptos"/>
              </a:rPr>
              <a:t> </a:t>
            </a:r>
            <a:r>
              <a:rPr sz="1650" dirty="0" err="1">
                <a:solidFill>
                  <a:srgbClr val="192734"/>
                </a:solidFill>
                <a:latin typeface="Aptos"/>
              </a:rPr>
              <a:t>ребенка</a:t>
            </a:r>
            <a:r>
              <a:rPr sz="1650" dirty="0">
                <a:solidFill>
                  <a:srgbClr val="192734"/>
                </a:solidFill>
                <a:latin typeface="Aptos"/>
              </a:rPr>
              <a:t> и </a:t>
            </a:r>
            <a:r>
              <a:rPr sz="1650" dirty="0" err="1">
                <a:solidFill>
                  <a:srgbClr val="192734"/>
                </a:solidFill>
                <a:latin typeface="Aptos"/>
              </a:rPr>
              <a:t>родителя</a:t>
            </a:r>
            <a:r>
              <a:rPr sz="1650" dirty="0">
                <a:solidFill>
                  <a:srgbClr val="192734"/>
                </a:solidFill>
                <a:latin typeface="Aptos"/>
              </a:rPr>
              <a:t>;</a:t>
            </a:r>
          </a:p>
          <a:p>
            <a:pPr algn="l">
              <a:spcAft>
                <a:spcPts val="500"/>
              </a:spcAft>
            </a:pPr>
            <a:r>
              <a:rPr sz="1250" dirty="0">
                <a:solidFill>
                  <a:srgbClr val="CC8F25"/>
                </a:solidFill>
                <a:latin typeface="Aptos"/>
              </a:rPr>
              <a:t>●  </a:t>
            </a:r>
            <a:r>
              <a:rPr sz="1650" dirty="0" err="1">
                <a:solidFill>
                  <a:srgbClr val="192734"/>
                </a:solidFill>
                <a:latin typeface="Aptos"/>
              </a:rPr>
              <a:t>реализовать</a:t>
            </a:r>
            <a:r>
              <a:rPr sz="1650" dirty="0">
                <a:solidFill>
                  <a:srgbClr val="192734"/>
                </a:solidFill>
                <a:latin typeface="Aptos"/>
              </a:rPr>
              <a:t> </a:t>
            </a:r>
            <a:r>
              <a:rPr sz="1650" dirty="0" err="1">
                <a:solidFill>
                  <a:srgbClr val="192734"/>
                </a:solidFill>
                <a:latin typeface="Aptos"/>
              </a:rPr>
              <a:t>единый</a:t>
            </a:r>
            <a:r>
              <a:rPr sz="1650" dirty="0">
                <a:solidFill>
                  <a:srgbClr val="192734"/>
                </a:solidFill>
                <a:latin typeface="Aptos"/>
              </a:rPr>
              <a:t> </a:t>
            </a:r>
            <a:r>
              <a:rPr sz="1650" dirty="0" err="1">
                <a:solidFill>
                  <a:srgbClr val="192734"/>
                </a:solidFill>
                <a:latin typeface="Aptos"/>
              </a:rPr>
              <a:t>жизненный</a:t>
            </a:r>
            <a:r>
              <a:rPr sz="1650" dirty="0">
                <a:solidFill>
                  <a:srgbClr val="192734"/>
                </a:solidFill>
                <a:latin typeface="Aptos"/>
              </a:rPr>
              <a:t> </a:t>
            </a:r>
            <a:r>
              <a:rPr sz="1650" dirty="0" err="1">
                <a:solidFill>
                  <a:srgbClr val="192734"/>
                </a:solidFill>
                <a:latin typeface="Aptos"/>
              </a:rPr>
              <a:t>цикл</a:t>
            </a:r>
            <a:r>
              <a:rPr sz="1650" dirty="0">
                <a:solidFill>
                  <a:srgbClr val="192734"/>
                </a:solidFill>
                <a:latin typeface="Aptos"/>
              </a:rPr>
              <a:t> </a:t>
            </a:r>
            <a:r>
              <a:rPr sz="1650" dirty="0" err="1">
                <a:solidFill>
                  <a:srgbClr val="192734"/>
                </a:solidFill>
                <a:latin typeface="Aptos"/>
              </a:rPr>
              <a:t>квеста</a:t>
            </a:r>
            <a:r>
              <a:rPr sz="1650" dirty="0">
                <a:solidFill>
                  <a:srgbClr val="192734"/>
                </a:solidFill>
                <a:latin typeface="Aptos"/>
              </a:rPr>
              <a:t>;</a:t>
            </a:r>
          </a:p>
          <a:p>
            <a:pPr algn="l">
              <a:spcAft>
                <a:spcPts val="500"/>
              </a:spcAft>
            </a:pPr>
            <a:r>
              <a:rPr sz="1250" dirty="0">
                <a:solidFill>
                  <a:srgbClr val="CC8F25"/>
                </a:solidFill>
                <a:latin typeface="Aptos"/>
              </a:rPr>
              <a:t>●  </a:t>
            </a:r>
            <a:r>
              <a:rPr sz="1650" dirty="0" err="1">
                <a:solidFill>
                  <a:srgbClr val="192734"/>
                </a:solidFill>
                <a:latin typeface="Aptos"/>
              </a:rPr>
              <a:t>расширить</a:t>
            </a:r>
            <a:r>
              <a:rPr sz="1650" dirty="0">
                <a:solidFill>
                  <a:srgbClr val="192734"/>
                </a:solidFill>
                <a:latin typeface="Aptos"/>
              </a:rPr>
              <a:t> </a:t>
            </a:r>
            <a:r>
              <a:rPr sz="1650" dirty="0" err="1">
                <a:solidFill>
                  <a:srgbClr val="192734"/>
                </a:solidFill>
                <a:latin typeface="Aptos"/>
              </a:rPr>
              <a:t>облачную</a:t>
            </a:r>
            <a:r>
              <a:rPr sz="1650" dirty="0">
                <a:solidFill>
                  <a:srgbClr val="192734"/>
                </a:solidFill>
                <a:latin typeface="Aptos"/>
              </a:rPr>
              <a:t> </a:t>
            </a:r>
            <a:r>
              <a:rPr sz="1650" dirty="0" err="1">
                <a:solidFill>
                  <a:srgbClr val="192734"/>
                </a:solidFill>
                <a:latin typeface="Aptos"/>
              </a:rPr>
              <a:t>модель</a:t>
            </a:r>
            <a:r>
              <a:rPr sz="1650" dirty="0">
                <a:solidFill>
                  <a:srgbClr val="192734"/>
                </a:solidFill>
                <a:latin typeface="Aptos"/>
              </a:rPr>
              <a:t> </a:t>
            </a:r>
            <a:r>
              <a:rPr sz="1650" dirty="0" err="1">
                <a:solidFill>
                  <a:srgbClr val="192734"/>
                </a:solidFill>
                <a:latin typeface="Aptos"/>
              </a:rPr>
              <a:t>данных</a:t>
            </a:r>
            <a:r>
              <a:rPr sz="1650" dirty="0">
                <a:solidFill>
                  <a:srgbClr val="192734"/>
                </a:solidFill>
                <a:latin typeface="Aptos"/>
              </a:rPr>
              <a:t> </a:t>
            </a:r>
            <a:r>
              <a:rPr sz="1650" dirty="0" err="1">
                <a:solidFill>
                  <a:srgbClr val="192734"/>
                </a:solidFill>
                <a:latin typeface="Aptos"/>
              </a:rPr>
              <a:t>Firestore</a:t>
            </a:r>
            <a:r>
              <a:rPr sz="1650" dirty="0">
                <a:solidFill>
                  <a:srgbClr val="192734"/>
                </a:solidFill>
                <a:latin typeface="Aptos"/>
              </a:rPr>
              <a:t>;</a:t>
            </a:r>
          </a:p>
          <a:p>
            <a:pPr algn="l">
              <a:spcAft>
                <a:spcPts val="500"/>
              </a:spcAft>
            </a:pPr>
            <a:r>
              <a:rPr sz="1250" dirty="0">
                <a:solidFill>
                  <a:srgbClr val="CC8F25"/>
                </a:solidFill>
                <a:latin typeface="Aptos"/>
              </a:rPr>
              <a:t>●  </a:t>
            </a:r>
            <a:r>
              <a:rPr sz="1650" dirty="0" err="1">
                <a:solidFill>
                  <a:srgbClr val="192734"/>
                </a:solidFill>
                <a:latin typeface="Aptos"/>
              </a:rPr>
              <a:t>собирать</a:t>
            </a:r>
            <a:r>
              <a:rPr sz="1650" dirty="0">
                <a:solidFill>
                  <a:srgbClr val="192734"/>
                </a:solidFill>
                <a:latin typeface="Aptos"/>
              </a:rPr>
              <a:t> </a:t>
            </a:r>
            <a:r>
              <a:rPr sz="1650" dirty="0" err="1">
                <a:solidFill>
                  <a:srgbClr val="192734"/>
                </a:solidFill>
                <a:latin typeface="Aptos"/>
              </a:rPr>
              <a:t>события</a:t>
            </a:r>
            <a:r>
              <a:rPr sz="1650" dirty="0">
                <a:solidFill>
                  <a:srgbClr val="192734"/>
                </a:solidFill>
                <a:latin typeface="Aptos"/>
              </a:rPr>
              <a:t> и </a:t>
            </a:r>
            <a:r>
              <a:rPr sz="1650" dirty="0" err="1">
                <a:solidFill>
                  <a:srgbClr val="192734"/>
                </a:solidFill>
                <a:latin typeface="Aptos"/>
              </a:rPr>
              <a:t>рассчитывать</a:t>
            </a:r>
            <a:r>
              <a:rPr sz="1650" dirty="0">
                <a:solidFill>
                  <a:srgbClr val="192734"/>
                </a:solidFill>
                <a:latin typeface="Aptos"/>
              </a:rPr>
              <a:t> </a:t>
            </a:r>
            <a:r>
              <a:rPr sz="1650" dirty="0" err="1">
                <a:solidFill>
                  <a:srgbClr val="192734"/>
                </a:solidFill>
                <a:latin typeface="Aptos"/>
              </a:rPr>
              <a:t>аналитику</a:t>
            </a:r>
            <a:r>
              <a:rPr sz="1650" dirty="0">
                <a:solidFill>
                  <a:srgbClr val="192734"/>
                </a:solidFill>
                <a:latin typeface="Aptos"/>
              </a:rPr>
              <a:t>;</a:t>
            </a:r>
          </a:p>
          <a:p>
            <a:pPr algn="l">
              <a:spcAft>
                <a:spcPts val="500"/>
              </a:spcAft>
            </a:pPr>
            <a:r>
              <a:rPr sz="1250" dirty="0">
                <a:solidFill>
                  <a:srgbClr val="CC8F25"/>
                </a:solidFill>
                <a:latin typeface="Aptos"/>
              </a:rPr>
              <a:t>●  </a:t>
            </a:r>
            <a:r>
              <a:rPr sz="1650" dirty="0" err="1">
                <a:solidFill>
                  <a:srgbClr val="192734"/>
                </a:solidFill>
                <a:latin typeface="Aptos"/>
              </a:rPr>
              <a:t>формировать</a:t>
            </a:r>
            <a:r>
              <a:rPr sz="1650" dirty="0">
                <a:solidFill>
                  <a:srgbClr val="192734"/>
                </a:solidFill>
                <a:latin typeface="Aptos"/>
              </a:rPr>
              <a:t> </a:t>
            </a:r>
            <a:r>
              <a:rPr sz="1650" dirty="0" err="1">
                <a:solidFill>
                  <a:srgbClr val="192734"/>
                </a:solidFill>
                <a:latin typeface="Aptos"/>
              </a:rPr>
              <a:t>рекомендации</a:t>
            </a:r>
            <a:r>
              <a:rPr sz="1650" dirty="0">
                <a:solidFill>
                  <a:srgbClr val="192734"/>
                </a:solidFill>
                <a:latin typeface="Aptos"/>
              </a:rPr>
              <a:t> </a:t>
            </a:r>
            <a:r>
              <a:rPr sz="1650" dirty="0" err="1">
                <a:solidFill>
                  <a:srgbClr val="192734"/>
                </a:solidFill>
                <a:latin typeface="Aptos"/>
              </a:rPr>
              <a:t>на</a:t>
            </a:r>
            <a:r>
              <a:rPr sz="1650" dirty="0">
                <a:solidFill>
                  <a:srgbClr val="192734"/>
                </a:solidFill>
                <a:latin typeface="Aptos"/>
              </a:rPr>
              <a:t> </a:t>
            </a:r>
            <a:r>
              <a:rPr sz="1650" dirty="0" err="1">
                <a:solidFill>
                  <a:srgbClr val="192734"/>
                </a:solidFill>
                <a:latin typeface="Aptos"/>
              </a:rPr>
              <a:t>базе</a:t>
            </a:r>
            <a:r>
              <a:rPr sz="1650" dirty="0">
                <a:solidFill>
                  <a:srgbClr val="192734"/>
                </a:solidFill>
                <a:latin typeface="Aptos"/>
              </a:rPr>
              <a:t> </a:t>
            </a:r>
            <a:r>
              <a:rPr sz="1650" dirty="0" err="1">
                <a:solidFill>
                  <a:srgbClr val="192734"/>
                </a:solidFill>
                <a:latin typeface="Aptos"/>
              </a:rPr>
              <a:t>экспертных</a:t>
            </a:r>
            <a:r>
              <a:rPr sz="1650" dirty="0">
                <a:solidFill>
                  <a:srgbClr val="192734"/>
                </a:solidFill>
                <a:latin typeface="Aptos"/>
              </a:rPr>
              <a:t> </a:t>
            </a:r>
            <a:r>
              <a:rPr sz="1650" dirty="0" err="1">
                <a:solidFill>
                  <a:srgbClr val="192734"/>
                </a:solidFill>
                <a:latin typeface="Aptos"/>
              </a:rPr>
              <a:t>правил</a:t>
            </a:r>
            <a:r>
              <a:rPr sz="1650" dirty="0">
                <a:solidFill>
                  <a:srgbClr val="192734"/>
                </a:solidFill>
                <a:latin typeface="Aptos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144"/>
            <a:ext cx="12191695" cy="6858000"/>
          </a:xfrm>
          <a:prstGeom prst="rect">
            <a:avLst/>
          </a:prstGeom>
          <a:solidFill>
            <a:srgbClr val="F7F4EB"/>
          </a:solidFill>
          <a:ln w="12700">
            <a:solidFill>
              <a:srgbClr val="F7F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92734">
              <a:alpha val="88000"/>
            </a:srgbClr>
          </a:solidFill>
          <a:ln w="12700">
            <a:solidFill>
              <a:srgbClr val="1D5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881360" cy="5016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dirty="0" err="1">
                <a:solidFill>
                  <a:srgbClr val="192734"/>
                </a:solidFill>
                <a:latin typeface="Montserrat Black" panose="00000A00000000000000" pitchFamily="2" charset="-52"/>
              </a:rPr>
              <a:t>Архитектурное</a:t>
            </a:r>
            <a:r>
              <a:rPr sz="2800" b="1" dirty="0">
                <a:solidFill>
                  <a:srgbClr val="192734"/>
                </a:solidFill>
                <a:latin typeface="Montserrat Black" panose="00000A00000000000000" pitchFamily="2" charset="-52"/>
              </a:rPr>
              <a:t> </a:t>
            </a:r>
            <a:r>
              <a:rPr sz="2800" b="1" dirty="0" err="1">
                <a:solidFill>
                  <a:srgbClr val="192734"/>
                </a:solidFill>
                <a:latin typeface="Montserrat Black" panose="00000A00000000000000" pitchFamily="2" charset="-52"/>
              </a:rPr>
              <a:t>развитие</a:t>
            </a:r>
            <a:r>
              <a:rPr sz="2800" b="1" dirty="0">
                <a:solidFill>
                  <a:srgbClr val="192734"/>
                </a:solidFill>
                <a:latin typeface="Montserrat Black" panose="00000A00000000000000" pitchFamily="2" charset="-52"/>
              </a:rPr>
              <a:t> </a:t>
            </a:r>
            <a:r>
              <a:rPr sz="2800" b="1" dirty="0" err="1">
                <a:solidFill>
                  <a:srgbClr val="192734"/>
                </a:solidFill>
                <a:latin typeface="Montserrat Black" panose="00000A00000000000000" pitchFamily="2" charset="-52"/>
              </a:rPr>
              <a:t>проекта</a:t>
            </a:r>
            <a:endParaRPr sz="2800" b="1" dirty="0">
              <a:solidFill>
                <a:srgbClr val="192734"/>
              </a:solidFill>
              <a:latin typeface="Montserrat Black" panose="00000A00000000000000" pitchFamily="2" charset="-5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30352" y="907233"/>
            <a:ext cx="960120" cy="54864"/>
          </a:xfrm>
          <a:prstGeom prst="rect">
            <a:avLst/>
          </a:prstGeom>
          <a:solidFill>
            <a:srgbClr val="CC8F25"/>
          </a:solidFill>
          <a:ln w="12700">
            <a:solidFill>
              <a:srgbClr val="CC8F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539728" y="6473952"/>
            <a:ext cx="36576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3636C"/>
                </a:solidFill>
                <a:latin typeface="Aptos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09344"/>
            <a:ext cx="4005072" cy="4498848"/>
          </a:xfrm>
          <a:prstGeom prst="roundRect">
            <a:avLst>
              <a:gd name="adj" fmla="val 2938"/>
            </a:avLst>
          </a:prstGeom>
          <a:solidFill>
            <a:srgbClr val="E0EDF7"/>
          </a:solidFill>
          <a:ln w="12700">
            <a:solidFill>
              <a:srgbClr val="3069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6933" y="3783561"/>
            <a:ext cx="3346704" cy="42062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dirty="0" err="1">
                <a:solidFill>
                  <a:srgbClr val="306997"/>
                </a:solidFill>
                <a:latin typeface="Montserrat" panose="00000500000000000000" pitchFamily="2" charset="-52"/>
              </a:rPr>
              <a:t>Исходный</a:t>
            </a:r>
            <a:r>
              <a:rPr sz="2400" b="1" dirty="0">
                <a:solidFill>
                  <a:srgbClr val="306997"/>
                </a:solidFill>
                <a:latin typeface="Montserrat" panose="00000500000000000000" pitchFamily="2" charset="-52"/>
              </a:rPr>
              <a:t> MVP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8472" y="4567428"/>
            <a:ext cx="3337560" cy="1280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500"/>
              </a:spcAft>
            </a:pPr>
            <a:r>
              <a:rPr lang="ru-RU" sz="1150" dirty="0">
                <a:solidFill>
                  <a:srgbClr val="306997"/>
                </a:solidFill>
                <a:latin typeface="Aptos"/>
              </a:rPr>
              <a:t>●</a:t>
            </a:r>
            <a:r>
              <a:rPr sz="1150" dirty="0">
                <a:solidFill>
                  <a:srgbClr val="306997"/>
                </a:solidFill>
                <a:latin typeface="Aptos"/>
              </a:rPr>
              <a:t>  </a:t>
            </a:r>
            <a:r>
              <a:rPr lang="ru-RU" sz="1550" dirty="0">
                <a:solidFill>
                  <a:srgbClr val="306997"/>
                </a:solidFill>
                <a:latin typeface="Aptos"/>
              </a:rPr>
              <a:t>Л</a:t>
            </a:r>
            <a:r>
              <a:rPr sz="1550" dirty="0" err="1">
                <a:solidFill>
                  <a:srgbClr val="306997"/>
                </a:solidFill>
                <a:latin typeface="Aptos"/>
              </a:rPr>
              <a:t>окальный</a:t>
            </a:r>
            <a:r>
              <a:rPr sz="1550" dirty="0">
                <a:solidFill>
                  <a:srgbClr val="306997"/>
                </a:solidFill>
                <a:latin typeface="Aptos"/>
              </a:rPr>
              <a:t> Unity-</a:t>
            </a:r>
            <a:r>
              <a:rPr sz="1550" dirty="0" err="1">
                <a:solidFill>
                  <a:srgbClr val="306997"/>
                </a:solidFill>
                <a:latin typeface="Aptos"/>
              </a:rPr>
              <a:t>клиент</a:t>
            </a:r>
            <a:endParaRPr sz="1550" dirty="0">
              <a:solidFill>
                <a:srgbClr val="306997"/>
              </a:solidFill>
              <a:latin typeface="Aptos"/>
            </a:endParaRPr>
          </a:p>
          <a:p>
            <a:pPr algn="l">
              <a:spcAft>
                <a:spcPts val="500"/>
              </a:spcAft>
            </a:pPr>
            <a:r>
              <a:rPr sz="1150" dirty="0">
                <a:solidFill>
                  <a:srgbClr val="306997"/>
                </a:solidFill>
                <a:latin typeface="Aptos"/>
              </a:rPr>
              <a:t>●  </a:t>
            </a:r>
            <a:r>
              <a:rPr lang="ru-RU" sz="1550" dirty="0">
                <a:solidFill>
                  <a:srgbClr val="306997"/>
                </a:solidFill>
                <a:latin typeface="Aptos"/>
              </a:rPr>
              <a:t>Б</a:t>
            </a:r>
            <a:r>
              <a:rPr sz="1550" dirty="0" err="1">
                <a:solidFill>
                  <a:srgbClr val="306997"/>
                </a:solidFill>
                <a:latin typeface="Aptos"/>
              </a:rPr>
              <a:t>азовая</a:t>
            </a:r>
            <a:r>
              <a:rPr sz="1550" dirty="0">
                <a:solidFill>
                  <a:srgbClr val="306997"/>
                </a:solidFill>
                <a:latin typeface="Aptos"/>
              </a:rPr>
              <a:t> </a:t>
            </a:r>
            <a:r>
              <a:rPr sz="1550" dirty="0" err="1">
                <a:solidFill>
                  <a:srgbClr val="306997"/>
                </a:solidFill>
                <a:latin typeface="Aptos"/>
              </a:rPr>
              <a:t>карта</a:t>
            </a:r>
            <a:r>
              <a:rPr sz="1550" dirty="0">
                <a:solidFill>
                  <a:srgbClr val="306997"/>
                </a:solidFill>
                <a:latin typeface="Aptos"/>
              </a:rPr>
              <a:t> и </a:t>
            </a:r>
            <a:r>
              <a:rPr sz="1550" dirty="0" err="1">
                <a:solidFill>
                  <a:srgbClr val="306997"/>
                </a:solidFill>
                <a:latin typeface="Aptos"/>
              </a:rPr>
              <a:t>бой</a:t>
            </a:r>
            <a:endParaRPr sz="1550" dirty="0">
              <a:solidFill>
                <a:srgbClr val="306997"/>
              </a:solidFill>
              <a:latin typeface="Aptos"/>
            </a:endParaRPr>
          </a:p>
          <a:p>
            <a:pPr algn="l">
              <a:spcAft>
                <a:spcPts val="500"/>
              </a:spcAft>
            </a:pPr>
            <a:r>
              <a:rPr sz="1150" dirty="0">
                <a:solidFill>
                  <a:srgbClr val="306997"/>
                </a:solidFill>
                <a:latin typeface="Aptos"/>
              </a:rPr>
              <a:t>●  </a:t>
            </a:r>
            <a:r>
              <a:rPr lang="ru-RU" sz="1550" dirty="0">
                <a:solidFill>
                  <a:srgbClr val="306997"/>
                </a:solidFill>
                <a:latin typeface="Aptos"/>
              </a:rPr>
              <a:t>Л</a:t>
            </a:r>
            <a:r>
              <a:rPr sz="1550" dirty="0" err="1">
                <a:solidFill>
                  <a:srgbClr val="306997"/>
                </a:solidFill>
                <a:latin typeface="Aptos"/>
              </a:rPr>
              <a:t>окальный</a:t>
            </a:r>
            <a:r>
              <a:rPr sz="1550" dirty="0">
                <a:solidFill>
                  <a:srgbClr val="306997"/>
                </a:solidFill>
                <a:latin typeface="Aptos"/>
              </a:rPr>
              <a:t> </a:t>
            </a:r>
            <a:r>
              <a:rPr sz="1550" dirty="0" err="1">
                <a:solidFill>
                  <a:srgbClr val="306997"/>
                </a:solidFill>
                <a:latin typeface="Aptos"/>
              </a:rPr>
              <a:t>список</a:t>
            </a:r>
            <a:r>
              <a:rPr sz="1550" dirty="0">
                <a:solidFill>
                  <a:srgbClr val="306997"/>
                </a:solidFill>
                <a:latin typeface="Aptos"/>
              </a:rPr>
              <a:t> </a:t>
            </a:r>
            <a:r>
              <a:rPr sz="1550" dirty="0" err="1">
                <a:solidFill>
                  <a:srgbClr val="306997"/>
                </a:solidFill>
                <a:latin typeface="Aptos"/>
              </a:rPr>
              <a:t>заданий</a:t>
            </a:r>
            <a:endParaRPr sz="1550" dirty="0">
              <a:solidFill>
                <a:srgbClr val="306997"/>
              </a:solidFill>
              <a:latin typeface="Aptos"/>
            </a:endParaRPr>
          </a:p>
          <a:p>
            <a:pPr algn="l">
              <a:spcAft>
                <a:spcPts val="500"/>
              </a:spcAft>
            </a:pPr>
            <a:r>
              <a:rPr sz="1150" dirty="0">
                <a:solidFill>
                  <a:srgbClr val="306997"/>
                </a:solidFill>
                <a:latin typeface="Aptos"/>
              </a:rPr>
              <a:t>●  </a:t>
            </a:r>
            <a:r>
              <a:rPr lang="ru-RU" sz="1550" dirty="0">
                <a:solidFill>
                  <a:srgbClr val="306997"/>
                </a:solidFill>
                <a:latin typeface="Aptos"/>
              </a:rPr>
              <a:t>М</a:t>
            </a:r>
            <a:r>
              <a:rPr sz="1550" dirty="0" err="1">
                <a:solidFill>
                  <a:srgbClr val="306997"/>
                </a:solidFill>
                <a:latin typeface="Aptos"/>
              </a:rPr>
              <a:t>инимальная</a:t>
            </a:r>
            <a:r>
              <a:rPr sz="1550" dirty="0">
                <a:solidFill>
                  <a:srgbClr val="306997"/>
                </a:solidFill>
                <a:latin typeface="Aptos"/>
              </a:rPr>
              <a:t> </a:t>
            </a:r>
            <a:r>
              <a:rPr sz="1550" dirty="0" err="1">
                <a:solidFill>
                  <a:srgbClr val="306997"/>
                </a:solidFill>
                <a:latin typeface="Aptos"/>
              </a:rPr>
              <a:t>адаптивность</a:t>
            </a:r>
            <a:endParaRPr sz="1550" dirty="0">
              <a:solidFill>
                <a:srgbClr val="306997"/>
              </a:solidFill>
              <a:latin typeface="Aptos"/>
            </a:endParaRPr>
          </a:p>
        </p:txBody>
      </p:sp>
      <p:cxnSp>
        <p:nvCxnSpPr>
          <p:cNvPr id="12" name="Connector 11"/>
          <p:cNvCxnSpPr>
            <a:cxnSpLocks/>
            <a:endCxn id="15" idx="1"/>
          </p:cNvCxnSpPr>
          <p:nvPr/>
        </p:nvCxnSpPr>
        <p:spPr>
          <a:xfrm flipV="1">
            <a:off x="4572000" y="3858768"/>
            <a:ext cx="1600200" cy="2"/>
          </a:xfrm>
          <a:prstGeom prst="line">
            <a:avLst/>
          </a:prstGeom>
          <a:ln w="50800">
            <a:solidFill>
              <a:srgbClr val="CC8F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5120640" y="3648579"/>
            <a:ext cx="411480" cy="406044"/>
          </a:xfrm>
          <a:prstGeom prst="ellipse">
            <a:avLst/>
          </a:prstGeom>
          <a:solidFill>
            <a:srgbClr val="F9ECCD"/>
          </a:solidFill>
          <a:ln>
            <a:solidFill>
              <a:srgbClr val="CC8F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3737" y="3642276"/>
            <a:ext cx="594360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500" b="1" dirty="0">
                <a:solidFill>
                  <a:srgbClr val="CC8F25"/>
                </a:solidFill>
                <a:latin typeface="Aptos"/>
              </a:rPr>
              <a:t>+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609344"/>
            <a:ext cx="5440680" cy="4498848"/>
          </a:xfrm>
          <a:prstGeom prst="roundRect">
            <a:avLst>
              <a:gd name="adj" fmla="val 2110"/>
            </a:avLst>
          </a:prstGeom>
          <a:solidFill>
            <a:srgbClr val="DEEDE5"/>
          </a:solidFill>
          <a:ln w="12700">
            <a:solidFill>
              <a:srgbClr val="1D5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37960" y="1883664"/>
            <a:ext cx="4681728" cy="42062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dirty="0" err="1">
                <a:solidFill>
                  <a:srgbClr val="1D5B45"/>
                </a:solidFill>
                <a:latin typeface="Montserrat" panose="00000500000000000000" pitchFamily="2" charset="-52"/>
              </a:rPr>
              <a:t>Итоговая</a:t>
            </a:r>
            <a:r>
              <a:rPr sz="2400" b="1" dirty="0">
                <a:solidFill>
                  <a:srgbClr val="1D5B45"/>
                </a:solidFill>
                <a:latin typeface="Montserrat" panose="00000500000000000000" pitchFamily="2" charset="-52"/>
              </a:rPr>
              <a:t> </a:t>
            </a:r>
            <a:r>
              <a:rPr sz="2400" b="1" dirty="0" err="1">
                <a:solidFill>
                  <a:srgbClr val="1D5B45"/>
                </a:solidFill>
                <a:latin typeface="Montserrat" panose="00000500000000000000" pitchFamily="2" charset="-52"/>
              </a:rPr>
              <a:t>система</a:t>
            </a:r>
            <a:endParaRPr sz="2400" b="1" dirty="0">
              <a:solidFill>
                <a:srgbClr val="1D5B45"/>
              </a:solidFill>
              <a:latin typeface="Montserrat" panose="00000500000000000000" pitchFamily="2" charset="-5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349980" y="2661027"/>
            <a:ext cx="1627632" cy="987552"/>
          </a:xfrm>
          <a:prstGeom prst="roundRect">
            <a:avLst>
              <a:gd name="adj" fmla="val 8437"/>
            </a:avLst>
          </a:prstGeom>
          <a:solidFill>
            <a:srgbClr val="E0EDF7"/>
          </a:solidFill>
          <a:ln w="12700">
            <a:solidFill>
              <a:srgbClr val="3069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8" name="TextBox 17"/>
          <p:cNvSpPr txBox="1"/>
          <p:nvPr/>
        </p:nvSpPr>
        <p:spPr>
          <a:xfrm>
            <a:off x="6407575" y="2871216"/>
            <a:ext cx="1481328" cy="56692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306997"/>
                </a:solidFill>
                <a:latin typeface="Aptos"/>
              </a:rPr>
              <a:t>Unity-клиент
ребенка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0797" y="2670048"/>
            <a:ext cx="1627632" cy="987552"/>
          </a:xfrm>
          <a:prstGeom prst="roundRect">
            <a:avLst>
              <a:gd name="adj" fmla="val 7751"/>
            </a:avLst>
          </a:prstGeom>
          <a:solidFill>
            <a:srgbClr val="F9ECCD"/>
          </a:solidFill>
          <a:ln w="12700">
            <a:solidFill>
              <a:srgbClr val="CC8F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93949" y="2871216"/>
            <a:ext cx="1481328" cy="56692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CC8F25"/>
                </a:solidFill>
                <a:latin typeface="Aptos"/>
              </a:rPr>
              <a:t>Web-панель
родителя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63142" y="2670048"/>
            <a:ext cx="1417320" cy="987552"/>
          </a:xfrm>
          <a:prstGeom prst="roundRect">
            <a:avLst>
              <a:gd name="adj" fmla="val 8437"/>
            </a:avLst>
          </a:prstGeom>
          <a:solidFill>
            <a:srgbClr val="EBE5F7"/>
          </a:solidFill>
          <a:ln w="12700">
            <a:solidFill>
              <a:srgbClr val="6549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136294" y="2871216"/>
            <a:ext cx="1271016" cy="56692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654997"/>
                </a:solidFill>
                <a:latin typeface="Aptos"/>
              </a:rPr>
              <a:t>Firebase
backend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02086" y="3940391"/>
            <a:ext cx="1627632" cy="987552"/>
          </a:xfrm>
          <a:prstGeom prst="roundRect">
            <a:avLst>
              <a:gd name="adj" fmla="val 9808"/>
            </a:avLst>
          </a:prstGeom>
          <a:solidFill>
            <a:srgbClr val="FFFDF8"/>
          </a:solidFill>
          <a:ln w="12700">
            <a:solidFill>
              <a:srgbClr val="1D5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275238" y="4141559"/>
            <a:ext cx="1481328" cy="56692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D5B45"/>
                </a:solidFill>
                <a:latin typeface="Aptos"/>
              </a:rPr>
              <a:t>Аналитика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22326" y="3940391"/>
            <a:ext cx="1627632" cy="987552"/>
          </a:xfrm>
          <a:prstGeom prst="roundRect">
            <a:avLst>
              <a:gd name="adj" fmla="val 7751"/>
            </a:avLst>
          </a:prstGeom>
          <a:solidFill>
            <a:srgbClr val="FFFDF8"/>
          </a:solidFill>
          <a:ln w="12700">
            <a:solidFill>
              <a:srgbClr val="1D5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95478" y="4141559"/>
            <a:ext cx="1481328" cy="56692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dirty="0" err="1">
                <a:solidFill>
                  <a:srgbClr val="1D5B45"/>
                </a:solidFill>
                <a:latin typeface="Aptos"/>
              </a:rPr>
              <a:t>Экспертные</a:t>
            </a:r>
            <a:r>
              <a:rPr sz="1400" b="1" dirty="0">
                <a:solidFill>
                  <a:srgbClr val="1D5B45"/>
                </a:solidFill>
                <a:latin typeface="Aptos"/>
              </a:rPr>
              <a:t>
</a:t>
            </a:r>
            <a:r>
              <a:rPr sz="1400" b="1" dirty="0" err="1">
                <a:solidFill>
                  <a:srgbClr val="1D5B45"/>
                </a:solidFill>
                <a:latin typeface="Aptos"/>
              </a:rPr>
              <a:t>рекомендации</a:t>
            </a:r>
            <a:endParaRPr sz="1400" b="1" dirty="0">
              <a:solidFill>
                <a:srgbClr val="1D5B45"/>
              </a:solidFill>
              <a:latin typeface="Apto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692054" y="5496115"/>
            <a:ext cx="452628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dirty="0" err="1">
                <a:solidFill>
                  <a:srgbClr val="1D5B45"/>
                </a:solidFill>
                <a:latin typeface="Aptos"/>
              </a:rPr>
              <a:t>Общая</a:t>
            </a:r>
            <a:r>
              <a:rPr sz="1400" b="1" dirty="0">
                <a:solidFill>
                  <a:srgbClr val="1D5B45"/>
                </a:solidFill>
                <a:latin typeface="Aptos"/>
              </a:rPr>
              <a:t> </a:t>
            </a:r>
            <a:r>
              <a:rPr sz="1400" b="1" dirty="0" err="1">
                <a:solidFill>
                  <a:srgbClr val="1D5B45"/>
                </a:solidFill>
                <a:latin typeface="Aptos"/>
              </a:rPr>
              <a:t>модель</a:t>
            </a:r>
            <a:r>
              <a:rPr sz="1400" b="1" dirty="0">
                <a:solidFill>
                  <a:srgbClr val="1D5B45"/>
                </a:solidFill>
                <a:latin typeface="Aptos"/>
              </a:rPr>
              <a:t> </a:t>
            </a:r>
            <a:r>
              <a:rPr sz="1400" b="1" dirty="0" err="1">
                <a:solidFill>
                  <a:srgbClr val="1D5B45"/>
                </a:solidFill>
                <a:latin typeface="Aptos"/>
              </a:rPr>
              <a:t>данных</a:t>
            </a:r>
            <a:r>
              <a:rPr sz="1400" b="1" dirty="0">
                <a:solidFill>
                  <a:srgbClr val="1D5B45"/>
                </a:solidFill>
                <a:latin typeface="Aptos"/>
              </a:rPr>
              <a:t> и </a:t>
            </a:r>
            <a:r>
              <a:rPr sz="1400" b="1" dirty="0" err="1">
                <a:solidFill>
                  <a:srgbClr val="1D5B45"/>
                </a:solidFill>
                <a:latin typeface="Aptos"/>
              </a:rPr>
              <a:t>согласованные</a:t>
            </a:r>
            <a:r>
              <a:rPr sz="1400" b="1" dirty="0">
                <a:solidFill>
                  <a:srgbClr val="1D5B45"/>
                </a:solidFill>
                <a:latin typeface="Aptos"/>
              </a:rPr>
              <a:t> </a:t>
            </a:r>
            <a:r>
              <a:rPr sz="1400" b="1" dirty="0" err="1">
                <a:solidFill>
                  <a:srgbClr val="1D5B45"/>
                </a:solidFill>
                <a:latin typeface="Aptos"/>
              </a:rPr>
              <a:t>статусы</a:t>
            </a:r>
            <a:endParaRPr sz="1400" b="1" dirty="0">
              <a:solidFill>
                <a:srgbClr val="1D5B45"/>
              </a:solidFill>
              <a:latin typeface="Aptos"/>
            </a:endParaRPr>
          </a:p>
        </p:txBody>
      </p:sp>
      <p:sp>
        <p:nvSpPr>
          <p:cNvPr id="30" name="Rounded Rectangle 7">
            <a:extLst>
              <a:ext uri="{FF2B5EF4-FFF2-40B4-BE49-F238E27FC236}">
                <a16:creationId xmlns:a16="http://schemas.microsoft.com/office/drawing/2014/main" id="{1BDD2222-581D-4FB7-836A-96936DD632F6}"/>
              </a:ext>
            </a:extLst>
          </p:cNvPr>
          <p:cNvSpPr/>
          <p:nvPr/>
        </p:nvSpPr>
        <p:spPr>
          <a:xfrm>
            <a:off x="564716" y="1626991"/>
            <a:ext cx="4005072" cy="2111883"/>
          </a:xfrm>
          <a:prstGeom prst="roundRect">
            <a:avLst>
              <a:gd name="adj" fmla="val 5626"/>
            </a:avLst>
          </a:prstGeom>
          <a:blipFill>
            <a:blip r:embed="rId2"/>
            <a:stretch>
              <a:fillRect/>
            </a:stretch>
          </a:blipFill>
          <a:ln w="12700">
            <a:solidFill>
              <a:srgbClr val="3069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B"/>
          </a:solidFill>
          <a:ln w="12700">
            <a:solidFill>
              <a:srgbClr val="F7F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92734">
              <a:alpha val="88000"/>
            </a:srgbClr>
          </a:solidFill>
          <a:ln w="12700">
            <a:solidFill>
              <a:srgbClr val="1D5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 rot="5400000">
            <a:off x="-2936559" y="3307005"/>
            <a:ext cx="6703374" cy="243990"/>
          </a:xfrm>
          <a:prstGeom prst="rect">
            <a:avLst/>
          </a:prstGeom>
          <a:noFill/>
        </p:spPr>
        <p:txBody>
          <a:bodyPr vert="vert270"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b="1" spc="-300" dirty="0" err="1">
                <a:solidFill>
                  <a:srgbClr val="192734"/>
                </a:solidFill>
                <a:latin typeface="Montserrat Black" panose="00000A00000000000000" pitchFamily="2" charset="-52"/>
              </a:rPr>
              <a:t>Общая</a:t>
            </a:r>
            <a:r>
              <a:rPr lang="en-US" b="1" spc="-300" dirty="0">
                <a:solidFill>
                  <a:srgbClr val="192734"/>
                </a:solidFill>
                <a:latin typeface="Montserrat Black" panose="00000A00000000000000" pitchFamily="2" charset="-52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b="1" spc="-300" dirty="0">
                <a:solidFill>
                  <a:srgbClr val="192734"/>
                </a:solidFill>
                <a:latin typeface="Montserrat Black" panose="00000A00000000000000" pitchFamily="2" charset="-52"/>
              </a:rPr>
              <a:t> </a:t>
            </a:r>
            <a:r>
              <a:rPr b="1" spc="-300" dirty="0" err="1">
                <a:solidFill>
                  <a:srgbClr val="192734"/>
                </a:solidFill>
                <a:latin typeface="Montserrat Black" panose="00000A00000000000000" pitchFamily="2" charset="-52"/>
              </a:rPr>
              <a:t>архитектура</a:t>
            </a:r>
            <a:r>
              <a:rPr b="1" spc="-300" dirty="0">
                <a:solidFill>
                  <a:srgbClr val="192734"/>
                </a:solidFill>
                <a:latin typeface="Montserrat Black" panose="00000A00000000000000" pitchFamily="2" charset="-52"/>
              </a:rPr>
              <a:t> </a:t>
            </a:r>
            <a:r>
              <a:rPr b="1" spc="-300" dirty="0" err="1">
                <a:solidFill>
                  <a:srgbClr val="192734"/>
                </a:solidFill>
                <a:latin typeface="Montserrat Black" panose="00000A00000000000000" pitchFamily="2" charset="-52"/>
              </a:rPr>
              <a:t>сис</a:t>
            </a:r>
            <a:r>
              <a:rPr lang="en-US" b="1" spc="-300" dirty="0">
                <a:solidFill>
                  <a:srgbClr val="192734"/>
                </a:solidFill>
                <a:latin typeface="Montserrat Black" panose="00000A00000000000000" pitchFamily="2" charset="-52"/>
              </a:rPr>
              <a:t> </a:t>
            </a:r>
            <a:r>
              <a:rPr b="1" spc="-300" dirty="0" err="1">
                <a:solidFill>
                  <a:srgbClr val="192734"/>
                </a:solidFill>
                <a:latin typeface="Montserrat Black" panose="00000A00000000000000" pitchFamily="2" charset="-52"/>
              </a:rPr>
              <a:t>темы</a:t>
            </a:r>
            <a:endParaRPr b="1" spc="-300" dirty="0">
              <a:solidFill>
                <a:srgbClr val="192734"/>
              </a:solidFill>
              <a:latin typeface="Montserrat Black" panose="00000A00000000000000" pitchFamily="2" charset="-5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539728" y="6473952"/>
            <a:ext cx="36576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3636C"/>
                </a:solidFill>
                <a:latin typeface="Aptos"/>
              </a:rPr>
              <a:t>04</a:t>
            </a:r>
          </a:p>
        </p:txBody>
      </p:sp>
      <p:pic>
        <p:nvPicPr>
          <p:cNvPr id="8" name="Picture 7" descr="architecture_clean.jpg"/>
          <p:cNvPicPr>
            <a:picLocks noChangeAspect="1"/>
          </p:cNvPicPr>
          <p:nvPr/>
        </p:nvPicPr>
        <p:blipFill>
          <a:blip r:embed="rId2"/>
          <a:srcRect l="14" r="14"/>
          <a:stretch>
            <a:fillRect/>
          </a:stretch>
        </p:blipFill>
        <p:spPr>
          <a:xfrm>
            <a:off x="1033076" y="114914"/>
            <a:ext cx="10220445" cy="662817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B"/>
          </a:solidFill>
          <a:ln w="12700">
            <a:solidFill>
              <a:srgbClr val="F7F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92734">
              <a:alpha val="88000"/>
            </a:srgbClr>
          </a:solidFill>
          <a:ln w="12700">
            <a:solidFill>
              <a:srgbClr val="1D5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881360" cy="5016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dirty="0">
                <a:solidFill>
                  <a:srgbClr val="192734"/>
                </a:solidFill>
                <a:latin typeface="Montserrat Black" panose="00000A00000000000000" pitchFamily="2" charset="-52"/>
              </a:rPr>
              <a:t>Web-</a:t>
            </a:r>
            <a:r>
              <a:rPr sz="2800" b="1" dirty="0" err="1">
                <a:solidFill>
                  <a:srgbClr val="192734"/>
                </a:solidFill>
                <a:latin typeface="Montserrat Black" panose="00000A00000000000000" pitchFamily="2" charset="-52"/>
              </a:rPr>
              <a:t>приложение</a:t>
            </a:r>
            <a:r>
              <a:rPr sz="2800" b="1" dirty="0">
                <a:solidFill>
                  <a:srgbClr val="192734"/>
                </a:solidFill>
                <a:latin typeface="Montserrat Black" panose="00000A00000000000000" pitchFamily="2" charset="-52"/>
              </a:rPr>
              <a:t> </a:t>
            </a:r>
            <a:r>
              <a:rPr sz="2800" b="1" dirty="0" err="1">
                <a:solidFill>
                  <a:srgbClr val="192734"/>
                </a:solidFill>
                <a:latin typeface="Montserrat Black" panose="00000A00000000000000" pitchFamily="2" charset="-52"/>
              </a:rPr>
              <a:t>родителя</a:t>
            </a:r>
            <a:endParaRPr sz="2800" b="1" dirty="0">
              <a:solidFill>
                <a:srgbClr val="192734"/>
              </a:solidFill>
              <a:latin typeface="Montserrat Black" panose="00000A00000000000000" pitchFamily="2" charset="-5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44068" y="823579"/>
            <a:ext cx="960120" cy="54864"/>
          </a:xfrm>
          <a:prstGeom prst="rect">
            <a:avLst/>
          </a:prstGeom>
          <a:solidFill>
            <a:srgbClr val="CC8F25"/>
          </a:solidFill>
          <a:ln w="12700">
            <a:solidFill>
              <a:srgbClr val="CC8F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539728" y="6473952"/>
            <a:ext cx="365760" cy="1938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dirty="0">
                <a:solidFill>
                  <a:srgbClr val="53636C"/>
                </a:solidFill>
                <a:latin typeface="Aptos"/>
              </a:rPr>
              <a:t>0</a:t>
            </a:r>
            <a:r>
              <a:rPr lang="en-US" sz="900" b="1" dirty="0">
                <a:solidFill>
                  <a:srgbClr val="53636C"/>
                </a:solidFill>
                <a:latin typeface="Aptos"/>
              </a:rPr>
              <a:t>5</a:t>
            </a:r>
            <a:endParaRPr sz="900" b="1" dirty="0">
              <a:solidFill>
                <a:srgbClr val="53636C"/>
              </a:solidFill>
              <a:latin typeface="Apto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30352" y="1481328"/>
            <a:ext cx="5742432" cy="4553712"/>
          </a:xfrm>
          <a:prstGeom prst="roundRect">
            <a:avLst>
              <a:gd name="adj" fmla="val 4024"/>
            </a:avLst>
          </a:prstGeom>
          <a:solidFill>
            <a:srgbClr val="FFFDF8"/>
          </a:solidFill>
          <a:ln w="12700">
            <a:solidFill>
              <a:srgbClr val="F9EC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web_login.png"/>
          <p:cNvPicPr>
            <a:picLocks noChangeAspect="1"/>
          </p:cNvPicPr>
          <p:nvPr/>
        </p:nvPicPr>
        <p:blipFill>
          <a:blip r:embed="rId2"/>
          <a:srcRect t="19" b="19"/>
          <a:stretch>
            <a:fillRect/>
          </a:stretch>
        </p:blipFill>
        <p:spPr>
          <a:xfrm>
            <a:off x="758952" y="1673352"/>
            <a:ext cx="5285232" cy="2971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58952" y="4727448"/>
            <a:ext cx="5285232" cy="5786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sz="1700" b="1" dirty="0" err="1">
                <a:solidFill>
                  <a:srgbClr val="CC8F25"/>
                </a:solidFill>
                <a:latin typeface="Aptos"/>
              </a:rPr>
              <a:t>Отдельный</a:t>
            </a:r>
            <a:r>
              <a:rPr sz="1700" b="1" dirty="0">
                <a:solidFill>
                  <a:srgbClr val="CC8F25"/>
                </a:solidFill>
                <a:latin typeface="Aptos"/>
              </a:rPr>
              <a:t> </a:t>
            </a:r>
            <a:r>
              <a:rPr sz="1700" b="1" dirty="0" err="1">
                <a:solidFill>
                  <a:srgbClr val="CC8F25"/>
                </a:solidFill>
                <a:latin typeface="Aptos"/>
              </a:rPr>
              <a:t>рабочий</a:t>
            </a:r>
            <a:r>
              <a:rPr sz="1700" b="1" dirty="0">
                <a:solidFill>
                  <a:srgbClr val="CC8F25"/>
                </a:solidFill>
                <a:latin typeface="Aptos"/>
              </a:rPr>
              <a:t> </a:t>
            </a:r>
            <a:r>
              <a:rPr sz="1700" b="1" dirty="0" err="1">
                <a:solidFill>
                  <a:srgbClr val="CC8F25"/>
                </a:solidFill>
                <a:latin typeface="Aptos"/>
              </a:rPr>
              <a:t>интерфейс</a:t>
            </a:r>
            <a:r>
              <a:rPr sz="1700" b="1" dirty="0">
                <a:solidFill>
                  <a:srgbClr val="CC8F25"/>
                </a:solidFill>
                <a:latin typeface="Aptos"/>
              </a:rPr>
              <a:t> </a:t>
            </a:r>
            <a:r>
              <a:rPr sz="1700" b="1" dirty="0" err="1">
                <a:solidFill>
                  <a:srgbClr val="CC8F25"/>
                </a:solidFill>
                <a:latin typeface="Aptos"/>
              </a:rPr>
              <a:t>для</a:t>
            </a:r>
            <a:r>
              <a:rPr sz="1700" b="1" dirty="0">
                <a:solidFill>
                  <a:srgbClr val="CC8F25"/>
                </a:solidFill>
                <a:latin typeface="Aptos"/>
              </a:rPr>
              <a:t> </a:t>
            </a:r>
            <a:r>
              <a:rPr sz="1700" b="1" dirty="0" err="1">
                <a:solidFill>
                  <a:srgbClr val="CC8F25"/>
                </a:solidFill>
                <a:latin typeface="Aptos"/>
              </a:rPr>
              <a:t>взрослого</a:t>
            </a:r>
            <a:r>
              <a:rPr sz="1700" b="1" dirty="0">
                <a:solidFill>
                  <a:srgbClr val="CC8F25"/>
                </a:solidFill>
                <a:latin typeface="Aptos"/>
              </a:rPr>
              <a:t> </a:t>
            </a:r>
            <a:r>
              <a:rPr sz="1700" b="1" dirty="0" err="1">
                <a:solidFill>
                  <a:srgbClr val="CC8F25"/>
                </a:solidFill>
                <a:latin typeface="Aptos"/>
              </a:rPr>
              <a:t>пользователя</a:t>
            </a:r>
            <a:endParaRPr sz="1700" b="1" dirty="0">
              <a:solidFill>
                <a:srgbClr val="CC8F25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58951" y="5359004"/>
            <a:ext cx="5245913" cy="26314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sz="1350" b="0" dirty="0">
                <a:solidFill>
                  <a:srgbClr val="53636C"/>
                </a:solidFill>
                <a:latin typeface="Aptos"/>
              </a:rPr>
              <a:t>Web-</a:t>
            </a:r>
            <a:r>
              <a:rPr sz="1350" b="0" dirty="0" err="1">
                <a:solidFill>
                  <a:srgbClr val="53636C"/>
                </a:solidFill>
                <a:latin typeface="Aptos"/>
              </a:rPr>
              <a:t>клиент</a:t>
            </a:r>
            <a:r>
              <a:rPr sz="1350" b="0" dirty="0">
                <a:solidFill>
                  <a:srgbClr val="53636C"/>
                </a:solidFill>
                <a:latin typeface="Aptos"/>
              </a:rPr>
              <a:t> </a:t>
            </a:r>
            <a:r>
              <a:rPr sz="1350" b="0" dirty="0" err="1">
                <a:solidFill>
                  <a:srgbClr val="53636C"/>
                </a:solidFill>
                <a:latin typeface="Aptos"/>
              </a:rPr>
              <a:t>не</a:t>
            </a:r>
            <a:r>
              <a:rPr sz="1350" b="0" dirty="0">
                <a:solidFill>
                  <a:srgbClr val="53636C"/>
                </a:solidFill>
                <a:latin typeface="Aptos"/>
              </a:rPr>
              <a:t> </a:t>
            </a:r>
            <a:r>
              <a:rPr sz="1350" b="0" dirty="0" err="1">
                <a:solidFill>
                  <a:srgbClr val="53636C"/>
                </a:solidFill>
                <a:latin typeface="Aptos"/>
              </a:rPr>
              <a:t>дублирует</a:t>
            </a:r>
            <a:r>
              <a:rPr sz="1350" b="0" dirty="0">
                <a:solidFill>
                  <a:srgbClr val="53636C"/>
                </a:solidFill>
                <a:latin typeface="Aptos"/>
              </a:rPr>
              <a:t> </a:t>
            </a:r>
            <a:r>
              <a:rPr sz="1350" b="0" dirty="0" err="1">
                <a:solidFill>
                  <a:srgbClr val="53636C"/>
                </a:solidFill>
                <a:latin typeface="Aptos"/>
              </a:rPr>
              <a:t>игру</a:t>
            </a:r>
            <a:r>
              <a:rPr sz="1350" b="0" dirty="0">
                <a:solidFill>
                  <a:srgbClr val="53636C"/>
                </a:solidFill>
                <a:latin typeface="Aptos"/>
              </a:rPr>
              <a:t>, а </a:t>
            </a:r>
            <a:r>
              <a:rPr sz="1350" b="0" dirty="0" err="1">
                <a:solidFill>
                  <a:srgbClr val="53636C"/>
                </a:solidFill>
                <a:latin typeface="Aptos"/>
              </a:rPr>
              <a:t>управляет</a:t>
            </a:r>
            <a:r>
              <a:rPr sz="1350" b="0" dirty="0">
                <a:solidFill>
                  <a:srgbClr val="53636C"/>
                </a:solidFill>
                <a:latin typeface="Aptos"/>
              </a:rPr>
              <a:t> </a:t>
            </a:r>
            <a:r>
              <a:rPr sz="1350" b="0" dirty="0" err="1">
                <a:solidFill>
                  <a:srgbClr val="53636C"/>
                </a:solidFill>
                <a:latin typeface="Aptos"/>
              </a:rPr>
              <a:t>семейным</a:t>
            </a:r>
            <a:r>
              <a:rPr sz="1350" b="0" dirty="0">
                <a:solidFill>
                  <a:srgbClr val="53636C"/>
                </a:solidFill>
                <a:latin typeface="Aptos"/>
              </a:rPr>
              <a:t> </a:t>
            </a:r>
            <a:r>
              <a:rPr sz="1350" b="0" dirty="0" err="1">
                <a:solidFill>
                  <a:srgbClr val="53636C"/>
                </a:solidFill>
                <a:latin typeface="Aptos"/>
              </a:rPr>
              <a:t>сценарием</a:t>
            </a:r>
            <a:r>
              <a:rPr sz="1350" b="0" dirty="0">
                <a:solidFill>
                  <a:srgbClr val="53636C"/>
                </a:solidFill>
                <a:latin typeface="Aptos"/>
              </a:rPr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47104" y="1494874"/>
            <a:ext cx="5102352" cy="4553712"/>
          </a:xfrm>
          <a:prstGeom prst="roundRect">
            <a:avLst>
              <a:gd name="adj" fmla="val 3131"/>
            </a:avLst>
          </a:prstGeom>
          <a:solidFill>
            <a:srgbClr val="DEEDE5"/>
          </a:solidFill>
          <a:ln w="12700">
            <a:solidFill>
              <a:srgbClr val="1D5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24928" y="1603925"/>
            <a:ext cx="429768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dirty="0" err="1">
                <a:solidFill>
                  <a:srgbClr val="1D5B45"/>
                </a:solidFill>
                <a:latin typeface="Aptos"/>
              </a:rPr>
              <a:t>Реализованные</a:t>
            </a:r>
            <a:r>
              <a:rPr sz="2100" b="1" dirty="0">
                <a:solidFill>
                  <a:srgbClr val="1D5B45"/>
                </a:solidFill>
                <a:latin typeface="Aptos"/>
              </a:rPr>
              <a:t> </a:t>
            </a:r>
            <a:r>
              <a:rPr sz="2100" b="1" dirty="0" err="1">
                <a:solidFill>
                  <a:srgbClr val="1D5B45"/>
                </a:solidFill>
                <a:latin typeface="Aptos"/>
              </a:rPr>
              <a:t>функции</a:t>
            </a:r>
            <a:endParaRPr sz="2100" b="1" dirty="0">
              <a:solidFill>
                <a:srgbClr val="1D5B45"/>
              </a:solidFill>
              <a:latin typeface="Aptos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6912864" y="2359152"/>
            <a:ext cx="420624" cy="420624"/>
          </a:xfrm>
          <a:prstGeom prst="ellipse">
            <a:avLst/>
          </a:prstGeom>
          <a:solidFill>
            <a:srgbClr val="F9ECCD"/>
          </a:solidFill>
          <a:ln>
            <a:solidFill>
              <a:srgbClr val="CC8F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912864" y="2459736"/>
            <a:ext cx="420624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CC8F25"/>
                </a:solidFill>
                <a:latin typeface="Aptos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88936" y="2467356"/>
            <a:ext cx="1938528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 dirty="0" err="1">
                <a:solidFill>
                  <a:srgbClr val="192734"/>
                </a:solidFill>
                <a:latin typeface="Aptos"/>
              </a:rPr>
              <a:t>Семья</a:t>
            </a:r>
            <a:r>
              <a:rPr sz="1450" b="1" dirty="0">
                <a:solidFill>
                  <a:srgbClr val="192734"/>
                </a:solidFill>
                <a:latin typeface="Aptos"/>
              </a:rPr>
              <a:t> и </a:t>
            </a:r>
            <a:r>
              <a:rPr sz="1450" b="1" dirty="0" err="1">
                <a:solidFill>
                  <a:srgbClr val="192734"/>
                </a:solidFill>
                <a:latin typeface="Aptos"/>
              </a:rPr>
              <a:t>дети</a:t>
            </a:r>
            <a:endParaRPr sz="1450" b="1" dirty="0">
              <a:solidFill>
                <a:srgbClr val="192734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528719" y="2481072"/>
            <a:ext cx="1847088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70" b="0" dirty="0" err="1">
                <a:solidFill>
                  <a:srgbClr val="53636C"/>
                </a:solidFill>
                <a:latin typeface="Aptos"/>
              </a:rPr>
              <a:t>создание</a:t>
            </a:r>
            <a:r>
              <a:rPr sz="1170" b="0" dirty="0">
                <a:solidFill>
                  <a:srgbClr val="53636C"/>
                </a:solidFill>
                <a:latin typeface="Aptos"/>
              </a:rPr>
              <a:t> </a:t>
            </a:r>
            <a:r>
              <a:rPr sz="1170" b="0" dirty="0" err="1">
                <a:solidFill>
                  <a:srgbClr val="53636C"/>
                </a:solidFill>
                <a:latin typeface="Aptos"/>
              </a:rPr>
              <a:t>профиля</a:t>
            </a:r>
            <a:r>
              <a:rPr sz="1170" b="0" dirty="0">
                <a:solidFill>
                  <a:srgbClr val="53636C"/>
                </a:solidFill>
                <a:latin typeface="Aptos"/>
              </a:rPr>
              <a:t> и Unity-</a:t>
            </a:r>
            <a:r>
              <a:rPr sz="1170" b="0" dirty="0" err="1">
                <a:solidFill>
                  <a:srgbClr val="53636C"/>
                </a:solidFill>
                <a:latin typeface="Aptos"/>
              </a:rPr>
              <a:t>входа</a:t>
            </a:r>
            <a:endParaRPr sz="1170" b="0" dirty="0">
              <a:solidFill>
                <a:srgbClr val="53636C"/>
              </a:solidFill>
              <a:latin typeface="Aptos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6912864" y="3026664"/>
            <a:ext cx="420624" cy="420624"/>
          </a:xfrm>
          <a:prstGeom prst="ellipse">
            <a:avLst/>
          </a:prstGeom>
          <a:solidFill>
            <a:srgbClr val="F9ECCD"/>
          </a:solidFill>
          <a:ln>
            <a:solidFill>
              <a:srgbClr val="CC8F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912864" y="3127248"/>
            <a:ext cx="420624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CC8F25"/>
                </a:solidFill>
                <a:latin typeface="Aptos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88936" y="3134868"/>
            <a:ext cx="1938528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92734"/>
                </a:solidFill>
                <a:latin typeface="Aptos"/>
              </a:rPr>
              <a:t>Управление квестами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28719" y="3148584"/>
            <a:ext cx="1847088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70" b="0">
                <a:solidFill>
                  <a:srgbClr val="53636C"/>
                </a:solidFill>
                <a:latin typeface="Aptos"/>
              </a:rPr>
              <a:t>шаблоны, сложность, награды</a:t>
            </a:r>
          </a:p>
        </p:txBody>
      </p:sp>
      <p:sp>
        <p:nvSpPr>
          <p:cNvPr id="22" name="Oval 21"/>
          <p:cNvSpPr/>
          <p:nvPr/>
        </p:nvSpPr>
        <p:spPr>
          <a:xfrm>
            <a:off x="6912864" y="3694176"/>
            <a:ext cx="420624" cy="420624"/>
          </a:xfrm>
          <a:prstGeom prst="ellipse">
            <a:avLst/>
          </a:prstGeom>
          <a:solidFill>
            <a:srgbClr val="F9ECCD"/>
          </a:solidFill>
          <a:ln>
            <a:solidFill>
              <a:srgbClr val="CC8F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912864" y="3794760"/>
            <a:ext cx="420624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CC8F25"/>
                </a:solidFill>
                <a:latin typeface="Aptos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88936" y="3802380"/>
            <a:ext cx="1938528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92734"/>
                </a:solidFill>
                <a:latin typeface="Aptos"/>
              </a:rPr>
              <a:t>Проверка выполнения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28719" y="3816096"/>
            <a:ext cx="1847088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70" b="0">
                <a:solidFill>
                  <a:srgbClr val="53636C"/>
                </a:solidFill>
                <a:latin typeface="Aptos"/>
              </a:rPr>
              <a:t>одобрение, отклонение, комментарий</a:t>
            </a:r>
          </a:p>
        </p:txBody>
      </p:sp>
      <p:sp>
        <p:nvSpPr>
          <p:cNvPr id="26" name="Oval 25"/>
          <p:cNvSpPr/>
          <p:nvPr/>
        </p:nvSpPr>
        <p:spPr>
          <a:xfrm>
            <a:off x="6912864" y="4361688"/>
            <a:ext cx="420624" cy="420624"/>
          </a:xfrm>
          <a:prstGeom prst="ellipse">
            <a:avLst/>
          </a:prstGeom>
          <a:solidFill>
            <a:srgbClr val="F9ECCD"/>
          </a:solidFill>
          <a:ln>
            <a:solidFill>
              <a:srgbClr val="CC8F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912864" y="4462272"/>
            <a:ext cx="420624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CC8F25"/>
                </a:solidFill>
                <a:latin typeface="Aptos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88936" y="4483608"/>
            <a:ext cx="1938528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92734"/>
                </a:solidFill>
                <a:latin typeface="Aptos"/>
              </a:rPr>
              <a:t>Аналитика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28719" y="4483608"/>
            <a:ext cx="1847088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70" b="0">
                <a:solidFill>
                  <a:srgbClr val="53636C"/>
                </a:solidFill>
                <a:latin typeface="Aptos"/>
              </a:rPr>
              <a:t>метрики по дням и категориям</a:t>
            </a:r>
          </a:p>
        </p:txBody>
      </p:sp>
      <p:sp>
        <p:nvSpPr>
          <p:cNvPr id="30" name="Oval 29"/>
          <p:cNvSpPr/>
          <p:nvPr/>
        </p:nvSpPr>
        <p:spPr>
          <a:xfrm>
            <a:off x="6912864" y="5029200"/>
            <a:ext cx="420624" cy="420624"/>
          </a:xfrm>
          <a:prstGeom prst="ellipse">
            <a:avLst/>
          </a:prstGeom>
          <a:solidFill>
            <a:srgbClr val="F9ECCD"/>
          </a:solidFill>
          <a:ln>
            <a:solidFill>
              <a:srgbClr val="CC8F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912864" y="5129784"/>
            <a:ext cx="420624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CC8F25"/>
                </a:solidFill>
                <a:latin typeface="Aptos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88936" y="5151120"/>
            <a:ext cx="1938528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92734"/>
                </a:solidFill>
                <a:latin typeface="Aptos"/>
              </a:rPr>
              <a:t>Рекомендации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28719" y="5151120"/>
            <a:ext cx="1847088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70" b="0" dirty="0" err="1">
                <a:solidFill>
                  <a:srgbClr val="53636C"/>
                </a:solidFill>
                <a:latin typeface="Aptos"/>
              </a:rPr>
              <a:t>совет</a:t>
            </a:r>
            <a:r>
              <a:rPr sz="1170" b="0" dirty="0">
                <a:solidFill>
                  <a:srgbClr val="53636C"/>
                </a:solidFill>
                <a:latin typeface="Aptos"/>
              </a:rPr>
              <a:t> </a:t>
            </a:r>
            <a:r>
              <a:rPr sz="1170" b="0" dirty="0" err="1">
                <a:solidFill>
                  <a:srgbClr val="53636C"/>
                </a:solidFill>
                <a:latin typeface="Aptos"/>
              </a:rPr>
              <a:t>при</a:t>
            </a:r>
            <a:r>
              <a:rPr sz="1170" b="0" dirty="0">
                <a:solidFill>
                  <a:srgbClr val="53636C"/>
                </a:solidFill>
                <a:latin typeface="Aptos"/>
              </a:rPr>
              <a:t> </a:t>
            </a:r>
            <a:r>
              <a:rPr sz="1170" b="0" dirty="0" err="1">
                <a:solidFill>
                  <a:srgbClr val="53636C"/>
                </a:solidFill>
                <a:latin typeface="Aptos"/>
              </a:rPr>
              <a:t>создании</a:t>
            </a:r>
            <a:r>
              <a:rPr sz="1170" b="0" dirty="0">
                <a:solidFill>
                  <a:srgbClr val="53636C"/>
                </a:solidFill>
                <a:latin typeface="Aptos"/>
              </a:rPr>
              <a:t> </a:t>
            </a:r>
            <a:r>
              <a:rPr sz="1170" b="0" dirty="0" err="1">
                <a:solidFill>
                  <a:srgbClr val="53636C"/>
                </a:solidFill>
                <a:latin typeface="Aptos"/>
              </a:rPr>
              <a:t>нового</a:t>
            </a:r>
            <a:r>
              <a:rPr sz="1170" b="0" dirty="0">
                <a:solidFill>
                  <a:srgbClr val="53636C"/>
                </a:solidFill>
                <a:latin typeface="Aptos"/>
              </a:rPr>
              <a:t> </a:t>
            </a:r>
            <a:r>
              <a:rPr sz="1170" b="0" dirty="0" err="1">
                <a:solidFill>
                  <a:srgbClr val="53636C"/>
                </a:solidFill>
                <a:latin typeface="Aptos"/>
              </a:rPr>
              <a:t>задания</a:t>
            </a:r>
            <a:endParaRPr sz="1170" b="0" dirty="0">
              <a:solidFill>
                <a:srgbClr val="53636C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B"/>
          </a:solidFill>
          <a:ln w="12700">
            <a:solidFill>
              <a:srgbClr val="F7F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92734">
              <a:alpha val="88000"/>
            </a:srgbClr>
          </a:solidFill>
          <a:ln w="12700">
            <a:solidFill>
              <a:srgbClr val="1D5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881360" cy="5016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dirty="0" err="1">
                <a:solidFill>
                  <a:srgbClr val="192734"/>
                </a:solidFill>
                <a:latin typeface="Montserrat Black" panose="00000A00000000000000" pitchFamily="2" charset="-52"/>
              </a:rPr>
              <a:t>Синхронизация</a:t>
            </a:r>
            <a:r>
              <a:rPr sz="2800" b="1" dirty="0">
                <a:solidFill>
                  <a:srgbClr val="192734"/>
                </a:solidFill>
                <a:latin typeface="Montserrat Black" panose="00000A00000000000000" pitchFamily="2" charset="-52"/>
              </a:rPr>
              <a:t> </a:t>
            </a:r>
            <a:r>
              <a:rPr sz="2800" b="1" dirty="0" err="1">
                <a:solidFill>
                  <a:srgbClr val="192734"/>
                </a:solidFill>
                <a:latin typeface="Montserrat Black" panose="00000A00000000000000" pitchFamily="2" charset="-52"/>
              </a:rPr>
              <a:t>заданий</a:t>
            </a:r>
            <a:endParaRPr sz="2800" b="1" dirty="0">
              <a:solidFill>
                <a:srgbClr val="192734"/>
              </a:solidFill>
              <a:latin typeface="Montserrat Black" panose="00000A00000000000000" pitchFamily="2" charset="-5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91312" y="852763"/>
            <a:ext cx="960120" cy="54864"/>
          </a:xfrm>
          <a:prstGeom prst="rect">
            <a:avLst/>
          </a:prstGeom>
          <a:solidFill>
            <a:srgbClr val="CC8F25"/>
          </a:solidFill>
          <a:ln w="12700">
            <a:solidFill>
              <a:srgbClr val="CC8F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539728" y="6473952"/>
            <a:ext cx="365760" cy="1938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dirty="0">
                <a:solidFill>
                  <a:srgbClr val="53636C"/>
                </a:solidFill>
                <a:latin typeface="Aptos"/>
              </a:rPr>
              <a:t>0</a:t>
            </a:r>
            <a:r>
              <a:rPr lang="en-US" sz="900" b="1" dirty="0">
                <a:solidFill>
                  <a:srgbClr val="53636C"/>
                </a:solidFill>
                <a:latin typeface="Aptos"/>
              </a:rPr>
              <a:t>6</a:t>
            </a:r>
            <a:endParaRPr sz="900" b="1" dirty="0">
              <a:solidFill>
                <a:srgbClr val="53636C"/>
              </a:solidFill>
              <a:latin typeface="Aptos"/>
            </a:endParaRPr>
          </a:p>
        </p:txBody>
      </p:sp>
      <p:pic>
        <p:nvPicPr>
          <p:cNvPr id="8" name="Picture 7" descr="lifecycle_clean.jpg"/>
          <p:cNvPicPr>
            <a:picLocks noChangeAspect="1"/>
          </p:cNvPicPr>
          <p:nvPr/>
        </p:nvPicPr>
        <p:blipFill>
          <a:blip r:embed="rId2"/>
          <a:srcRect t="17" b="17"/>
          <a:stretch>
            <a:fillRect/>
          </a:stretch>
        </p:blipFill>
        <p:spPr>
          <a:xfrm>
            <a:off x="542544" y="1530435"/>
            <a:ext cx="6713275" cy="436958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545493" y="1530434"/>
            <a:ext cx="4103963" cy="4369589"/>
          </a:xfrm>
          <a:prstGeom prst="roundRect">
            <a:avLst>
              <a:gd name="adj" fmla="val 2638"/>
            </a:avLst>
          </a:prstGeom>
          <a:solidFill>
            <a:srgbClr val="FFFDF8"/>
          </a:solidFill>
          <a:ln w="12700">
            <a:solidFill>
              <a:srgbClr val="E0E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60960" y="1771146"/>
            <a:ext cx="3473027" cy="363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dirty="0" err="1">
                <a:solidFill>
                  <a:srgbClr val="306997"/>
                </a:solidFill>
                <a:latin typeface="Montserrat Black" panose="00000A00000000000000" pitchFamily="2" charset="-52"/>
              </a:rPr>
              <a:t>Что</a:t>
            </a:r>
            <a:r>
              <a:rPr sz="2000" b="1" dirty="0">
                <a:solidFill>
                  <a:srgbClr val="306997"/>
                </a:solidFill>
                <a:latin typeface="Montserrat Black" panose="00000A00000000000000" pitchFamily="2" charset="-52"/>
              </a:rPr>
              <a:t> </a:t>
            </a:r>
            <a:r>
              <a:rPr sz="2000" b="1" dirty="0" err="1">
                <a:solidFill>
                  <a:srgbClr val="306997"/>
                </a:solidFill>
                <a:latin typeface="Montserrat Black" panose="00000A00000000000000" pitchFamily="2" charset="-52"/>
              </a:rPr>
              <a:t>синхронизируется</a:t>
            </a:r>
            <a:endParaRPr sz="2000" b="1" dirty="0">
              <a:solidFill>
                <a:srgbClr val="306997"/>
              </a:solidFill>
              <a:latin typeface="Montserrat Black" panose="00000A00000000000000" pitchFamily="2" charset="-5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859378" y="2604470"/>
            <a:ext cx="3473027" cy="18897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30" dirty="0">
                <a:solidFill>
                  <a:srgbClr val="CC8F25"/>
                </a:solidFill>
                <a:latin typeface="Aptos"/>
              </a:rPr>
              <a:t>●  </a:t>
            </a:r>
            <a:r>
              <a:rPr lang="en-US" sz="1530" dirty="0" err="1">
                <a:solidFill>
                  <a:srgbClr val="306997"/>
                </a:solidFill>
                <a:latin typeface="Aptos"/>
              </a:rPr>
              <a:t>C</a:t>
            </a:r>
            <a:r>
              <a:rPr sz="1530" dirty="0" err="1">
                <a:solidFill>
                  <a:srgbClr val="306997"/>
                </a:solidFill>
                <a:latin typeface="Aptos"/>
              </a:rPr>
              <a:t>татус</a:t>
            </a:r>
            <a:r>
              <a:rPr sz="1530" dirty="0">
                <a:solidFill>
                  <a:srgbClr val="306997"/>
                </a:solidFill>
                <a:latin typeface="Aptos"/>
              </a:rPr>
              <a:t> </a:t>
            </a:r>
            <a:r>
              <a:rPr sz="1530" dirty="0" err="1">
                <a:solidFill>
                  <a:srgbClr val="306997"/>
                </a:solidFill>
                <a:latin typeface="Aptos"/>
              </a:rPr>
              <a:t>квеста</a:t>
            </a:r>
            <a:endParaRPr sz="1530" dirty="0">
              <a:solidFill>
                <a:srgbClr val="306997"/>
              </a:solidFill>
              <a:latin typeface="Aptos"/>
            </a:endParaRPr>
          </a:p>
          <a:p>
            <a:pPr algn="l">
              <a:spcAft>
                <a:spcPts val="600"/>
              </a:spcAft>
            </a:pPr>
            <a:r>
              <a:rPr sz="1130" dirty="0">
                <a:solidFill>
                  <a:srgbClr val="CC8F25"/>
                </a:solidFill>
                <a:latin typeface="Aptos"/>
              </a:rPr>
              <a:t>●  </a:t>
            </a:r>
            <a:r>
              <a:rPr lang="ru-RU" sz="1530" dirty="0">
                <a:solidFill>
                  <a:srgbClr val="306997"/>
                </a:solidFill>
                <a:latin typeface="Aptos"/>
              </a:rPr>
              <a:t>О</a:t>
            </a:r>
            <a:r>
              <a:rPr sz="1530" dirty="0" err="1">
                <a:solidFill>
                  <a:srgbClr val="306997"/>
                </a:solidFill>
                <a:latin typeface="Aptos"/>
              </a:rPr>
              <a:t>писание</a:t>
            </a:r>
            <a:r>
              <a:rPr sz="1530" dirty="0">
                <a:solidFill>
                  <a:srgbClr val="306997"/>
                </a:solidFill>
                <a:latin typeface="Aptos"/>
              </a:rPr>
              <a:t> и </a:t>
            </a:r>
            <a:r>
              <a:rPr sz="1530" dirty="0" err="1">
                <a:solidFill>
                  <a:srgbClr val="306997"/>
                </a:solidFill>
                <a:latin typeface="Aptos"/>
              </a:rPr>
              <a:t>категория</a:t>
            </a:r>
            <a:endParaRPr sz="1530" dirty="0">
              <a:solidFill>
                <a:srgbClr val="306997"/>
              </a:solidFill>
              <a:latin typeface="Aptos"/>
            </a:endParaRPr>
          </a:p>
          <a:p>
            <a:pPr algn="l">
              <a:spcAft>
                <a:spcPts val="600"/>
              </a:spcAft>
            </a:pPr>
            <a:r>
              <a:rPr sz="1130" dirty="0">
                <a:solidFill>
                  <a:srgbClr val="CC8F25"/>
                </a:solidFill>
                <a:latin typeface="Aptos"/>
              </a:rPr>
              <a:t>●  </a:t>
            </a:r>
            <a:r>
              <a:rPr lang="ru-RU" sz="1530" dirty="0">
                <a:solidFill>
                  <a:srgbClr val="306997"/>
                </a:solidFill>
                <a:latin typeface="Aptos"/>
              </a:rPr>
              <a:t>С</a:t>
            </a:r>
            <a:r>
              <a:rPr sz="1530" dirty="0" err="1">
                <a:solidFill>
                  <a:srgbClr val="306997"/>
                </a:solidFill>
                <a:latin typeface="Aptos"/>
              </a:rPr>
              <a:t>ложность</a:t>
            </a:r>
            <a:r>
              <a:rPr sz="1530" dirty="0">
                <a:solidFill>
                  <a:srgbClr val="306997"/>
                </a:solidFill>
                <a:latin typeface="Aptos"/>
              </a:rPr>
              <a:t> и </a:t>
            </a:r>
            <a:r>
              <a:rPr sz="1530" dirty="0" err="1">
                <a:solidFill>
                  <a:srgbClr val="306997"/>
                </a:solidFill>
                <a:latin typeface="Aptos"/>
              </a:rPr>
              <a:t>награда</a:t>
            </a:r>
            <a:endParaRPr sz="1530" dirty="0">
              <a:solidFill>
                <a:srgbClr val="306997"/>
              </a:solidFill>
              <a:latin typeface="Aptos"/>
            </a:endParaRPr>
          </a:p>
          <a:p>
            <a:pPr algn="l">
              <a:spcAft>
                <a:spcPts val="600"/>
              </a:spcAft>
            </a:pPr>
            <a:r>
              <a:rPr sz="1130" dirty="0">
                <a:solidFill>
                  <a:srgbClr val="CC8F25"/>
                </a:solidFill>
                <a:latin typeface="Aptos"/>
              </a:rPr>
              <a:t>●  </a:t>
            </a:r>
            <a:r>
              <a:rPr lang="ru-RU" sz="1530" dirty="0">
                <a:solidFill>
                  <a:srgbClr val="306997"/>
                </a:solidFill>
                <a:latin typeface="Aptos"/>
              </a:rPr>
              <a:t>К</a:t>
            </a:r>
            <a:r>
              <a:rPr sz="1530" dirty="0" err="1">
                <a:solidFill>
                  <a:srgbClr val="306997"/>
                </a:solidFill>
                <a:latin typeface="Aptos"/>
              </a:rPr>
              <a:t>омментарии</a:t>
            </a:r>
            <a:r>
              <a:rPr sz="1530" dirty="0">
                <a:solidFill>
                  <a:srgbClr val="306997"/>
                </a:solidFill>
                <a:latin typeface="Aptos"/>
              </a:rPr>
              <a:t> </a:t>
            </a:r>
            <a:r>
              <a:rPr sz="1530" dirty="0" err="1">
                <a:solidFill>
                  <a:srgbClr val="306997"/>
                </a:solidFill>
                <a:latin typeface="Aptos"/>
              </a:rPr>
              <a:t>ребенка</a:t>
            </a:r>
            <a:r>
              <a:rPr sz="1530" dirty="0">
                <a:solidFill>
                  <a:srgbClr val="306997"/>
                </a:solidFill>
                <a:latin typeface="Aptos"/>
              </a:rPr>
              <a:t> и </a:t>
            </a:r>
            <a:r>
              <a:rPr sz="1530" dirty="0" err="1">
                <a:solidFill>
                  <a:srgbClr val="306997"/>
                </a:solidFill>
                <a:latin typeface="Aptos"/>
              </a:rPr>
              <a:t>родителя</a:t>
            </a:r>
            <a:endParaRPr sz="1530" dirty="0">
              <a:solidFill>
                <a:srgbClr val="306997"/>
              </a:solidFill>
              <a:latin typeface="Aptos"/>
            </a:endParaRPr>
          </a:p>
          <a:p>
            <a:pPr algn="l">
              <a:spcAft>
                <a:spcPts val="600"/>
              </a:spcAft>
            </a:pPr>
            <a:r>
              <a:rPr sz="1130" dirty="0">
                <a:solidFill>
                  <a:srgbClr val="CC8F25"/>
                </a:solidFill>
                <a:latin typeface="Aptos"/>
              </a:rPr>
              <a:t>●  </a:t>
            </a:r>
            <a:r>
              <a:rPr lang="ru-RU" sz="1530" dirty="0">
                <a:solidFill>
                  <a:srgbClr val="306997"/>
                </a:solidFill>
                <a:latin typeface="Aptos"/>
              </a:rPr>
              <a:t>В</a:t>
            </a:r>
            <a:r>
              <a:rPr sz="1530" dirty="0" err="1">
                <a:solidFill>
                  <a:srgbClr val="306997"/>
                </a:solidFill>
                <a:latin typeface="Aptos"/>
              </a:rPr>
              <a:t>ременные</a:t>
            </a:r>
            <a:r>
              <a:rPr sz="1530" dirty="0">
                <a:solidFill>
                  <a:srgbClr val="306997"/>
                </a:solidFill>
                <a:latin typeface="Aptos"/>
              </a:rPr>
              <a:t> </a:t>
            </a:r>
            <a:r>
              <a:rPr sz="1530" dirty="0" err="1">
                <a:solidFill>
                  <a:srgbClr val="306997"/>
                </a:solidFill>
                <a:latin typeface="Aptos"/>
              </a:rPr>
              <a:t>метки</a:t>
            </a:r>
            <a:r>
              <a:rPr sz="1530" dirty="0">
                <a:solidFill>
                  <a:srgbClr val="306997"/>
                </a:solidFill>
                <a:latin typeface="Aptos"/>
              </a:rPr>
              <a:t> </a:t>
            </a:r>
            <a:r>
              <a:rPr sz="1530" dirty="0" err="1">
                <a:solidFill>
                  <a:srgbClr val="306997"/>
                </a:solidFill>
                <a:latin typeface="Aptos"/>
              </a:rPr>
              <a:t>этапов</a:t>
            </a:r>
            <a:endParaRPr sz="1530" dirty="0">
              <a:solidFill>
                <a:srgbClr val="306997"/>
              </a:solidFill>
              <a:latin typeface="Aptos"/>
            </a:endParaRPr>
          </a:p>
          <a:p>
            <a:pPr algn="l">
              <a:spcAft>
                <a:spcPts val="600"/>
              </a:spcAft>
            </a:pPr>
            <a:r>
              <a:rPr sz="1130" dirty="0">
                <a:solidFill>
                  <a:srgbClr val="CC8F25"/>
                </a:solidFill>
                <a:latin typeface="Aptos"/>
              </a:rPr>
              <a:t>●  </a:t>
            </a:r>
            <a:r>
              <a:rPr lang="ru-RU" sz="1530" dirty="0">
                <a:solidFill>
                  <a:srgbClr val="306997"/>
                </a:solidFill>
                <a:latin typeface="Aptos"/>
              </a:rPr>
              <a:t>П</a:t>
            </a:r>
            <a:r>
              <a:rPr sz="1530" dirty="0" err="1">
                <a:solidFill>
                  <a:srgbClr val="306997"/>
                </a:solidFill>
                <a:latin typeface="Aptos"/>
              </a:rPr>
              <a:t>ризнак</a:t>
            </a:r>
            <a:r>
              <a:rPr sz="1530" dirty="0">
                <a:solidFill>
                  <a:srgbClr val="306997"/>
                </a:solidFill>
                <a:latin typeface="Aptos"/>
              </a:rPr>
              <a:t> </a:t>
            </a:r>
            <a:r>
              <a:rPr sz="1530" dirty="0" err="1">
                <a:solidFill>
                  <a:srgbClr val="306997"/>
                </a:solidFill>
                <a:latin typeface="Aptos"/>
              </a:rPr>
              <a:t>рекомендации</a:t>
            </a:r>
            <a:endParaRPr sz="1530" dirty="0">
              <a:solidFill>
                <a:srgbClr val="306997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652059" y="5068147"/>
            <a:ext cx="3887669" cy="722376"/>
          </a:xfrm>
          <a:prstGeom prst="roundRect">
            <a:avLst>
              <a:gd name="adj" fmla="val 9166"/>
            </a:avLst>
          </a:prstGeom>
          <a:solidFill>
            <a:srgbClr val="F9ECCD"/>
          </a:solidFill>
          <a:ln w="12700">
            <a:solidFill>
              <a:srgbClr val="F9EC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93754" y="5215659"/>
            <a:ext cx="3404277" cy="4401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dirty="0" err="1">
                <a:solidFill>
                  <a:srgbClr val="192734"/>
                </a:solidFill>
                <a:latin typeface="Aptos"/>
              </a:rPr>
              <a:t>Общие</a:t>
            </a:r>
            <a:r>
              <a:rPr sz="1250" b="1" dirty="0">
                <a:solidFill>
                  <a:srgbClr val="192734"/>
                </a:solidFill>
                <a:latin typeface="Aptos"/>
              </a:rPr>
              <a:t> </a:t>
            </a:r>
            <a:r>
              <a:rPr sz="1250" b="1" dirty="0" err="1">
                <a:solidFill>
                  <a:srgbClr val="192734"/>
                </a:solidFill>
                <a:latin typeface="Aptos"/>
              </a:rPr>
              <a:t>статусы</a:t>
            </a:r>
            <a:r>
              <a:rPr sz="1250" b="1" dirty="0">
                <a:solidFill>
                  <a:srgbClr val="192734"/>
                </a:solidFill>
                <a:latin typeface="Aptos"/>
              </a:rPr>
              <a:t> </a:t>
            </a:r>
            <a:r>
              <a:rPr sz="1250" b="1" dirty="0" err="1">
                <a:solidFill>
                  <a:srgbClr val="192734"/>
                </a:solidFill>
                <a:latin typeface="Aptos"/>
              </a:rPr>
              <a:t>исключают</a:t>
            </a:r>
            <a:r>
              <a:rPr sz="1250" b="1" dirty="0">
                <a:solidFill>
                  <a:srgbClr val="192734"/>
                </a:solidFill>
                <a:latin typeface="Aptos"/>
              </a:rPr>
              <a:t> </a:t>
            </a:r>
            <a:r>
              <a:rPr sz="1250" b="1" dirty="0" err="1">
                <a:solidFill>
                  <a:srgbClr val="192734"/>
                </a:solidFill>
                <a:latin typeface="Aptos"/>
              </a:rPr>
              <a:t>расхождения</a:t>
            </a:r>
            <a:r>
              <a:rPr sz="1250" b="1" dirty="0">
                <a:solidFill>
                  <a:srgbClr val="192734"/>
                </a:solidFill>
                <a:latin typeface="Aptos"/>
              </a:rPr>
              <a:t> </a:t>
            </a:r>
            <a:r>
              <a:rPr sz="1250" b="1" dirty="0" err="1">
                <a:solidFill>
                  <a:srgbClr val="192734"/>
                </a:solidFill>
                <a:latin typeface="Aptos"/>
              </a:rPr>
              <a:t>между</a:t>
            </a:r>
            <a:r>
              <a:rPr sz="1250" b="1" dirty="0">
                <a:solidFill>
                  <a:srgbClr val="192734"/>
                </a:solidFill>
                <a:latin typeface="Aptos"/>
              </a:rPr>
              <a:t> C#- и TypeScript-</a:t>
            </a:r>
            <a:r>
              <a:rPr sz="1250" b="1" dirty="0" err="1">
                <a:solidFill>
                  <a:srgbClr val="192734"/>
                </a:solidFill>
                <a:latin typeface="Aptos"/>
              </a:rPr>
              <a:t>моделями</a:t>
            </a:r>
            <a:r>
              <a:rPr sz="1250" b="1" dirty="0">
                <a:solidFill>
                  <a:srgbClr val="192734"/>
                </a:solidFill>
                <a:latin typeface="Aptos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B"/>
          </a:solidFill>
          <a:ln w="12700">
            <a:solidFill>
              <a:srgbClr val="F7F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92734">
              <a:alpha val="88000"/>
            </a:srgbClr>
          </a:solidFill>
          <a:ln w="12700">
            <a:solidFill>
              <a:srgbClr val="1D5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881360" cy="5016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dirty="0" err="1">
                <a:solidFill>
                  <a:srgbClr val="192734"/>
                </a:solidFill>
                <a:latin typeface="Montserrat Black" panose="00000A00000000000000" pitchFamily="2" charset="-52"/>
              </a:rPr>
              <a:t>Изменение</a:t>
            </a:r>
            <a:r>
              <a:rPr sz="2800" b="1" dirty="0">
                <a:solidFill>
                  <a:srgbClr val="192734"/>
                </a:solidFill>
                <a:latin typeface="Montserrat Black" panose="00000A00000000000000" pitchFamily="2" charset="-52"/>
              </a:rPr>
              <a:t> </a:t>
            </a:r>
            <a:r>
              <a:rPr sz="2800" b="1" dirty="0" err="1">
                <a:solidFill>
                  <a:srgbClr val="192734"/>
                </a:solidFill>
                <a:latin typeface="Montserrat Black" panose="00000A00000000000000" pitchFamily="2" charset="-52"/>
              </a:rPr>
              <a:t>модели</a:t>
            </a:r>
            <a:r>
              <a:rPr sz="2800" b="1" dirty="0">
                <a:solidFill>
                  <a:srgbClr val="192734"/>
                </a:solidFill>
                <a:latin typeface="Montserrat Black" panose="00000A00000000000000" pitchFamily="2" charset="-52"/>
              </a:rPr>
              <a:t> </a:t>
            </a:r>
            <a:r>
              <a:rPr sz="2800" b="1" dirty="0" err="1">
                <a:solidFill>
                  <a:srgbClr val="192734"/>
                </a:solidFill>
                <a:latin typeface="Montserrat Black" panose="00000A00000000000000" pitchFamily="2" charset="-52"/>
              </a:rPr>
              <a:t>Firestore</a:t>
            </a:r>
            <a:endParaRPr sz="2800" b="1" dirty="0">
              <a:solidFill>
                <a:srgbClr val="192734"/>
              </a:solidFill>
              <a:latin typeface="Montserrat Black" panose="00000A00000000000000" pitchFamily="2" charset="-5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58800" y="886968"/>
            <a:ext cx="960120" cy="54864"/>
          </a:xfrm>
          <a:prstGeom prst="rect">
            <a:avLst/>
          </a:prstGeom>
          <a:solidFill>
            <a:srgbClr val="CC8F25"/>
          </a:solidFill>
          <a:ln w="12700">
            <a:solidFill>
              <a:srgbClr val="CC8F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539728" y="6473952"/>
            <a:ext cx="365760" cy="1938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dirty="0">
                <a:solidFill>
                  <a:srgbClr val="53636C"/>
                </a:solidFill>
                <a:latin typeface="Aptos"/>
              </a:rPr>
              <a:t>0</a:t>
            </a:r>
            <a:r>
              <a:rPr lang="en-US" sz="900" b="1" dirty="0">
                <a:solidFill>
                  <a:srgbClr val="53636C"/>
                </a:solidFill>
                <a:latin typeface="Aptos"/>
              </a:rPr>
              <a:t>7</a:t>
            </a:r>
            <a:endParaRPr sz="900" b="1" dirty="0">
              <a:solidFill>
                <a:srgbClr val="53636C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58368" y="1489655"/>
            <a:ext cx="2834640" cy="3323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b="1" dirty="0" err="1">
                <a:solidFill>
                  <a:srgbClr val="306997"/>
                </a:solidFill>
                <a:latin typeface="Montserrat" panose="00000500000000000000" pitchFamily="2" charset="-52"/>
              </a:rPr>
              <a:t>Базовые</a:t>
            </a:r>
            <a:r>
              <a:rPr b="1" dirty="0">
                <a:solidFill>
                  <a:srgbClr val="306997"/>
                </a:solidFill>
                <a:latin typeface="Montserrat" panose="00000500000000000000" pitchFamily="2" charset="-52"/>
              </a:rPr>
              <a:t> </a:t>
            </a:r>
            <a:r>
              <a:rPr b="1" dirty="0" err="1">
                <a:solidFill>
                  <a:srgbClr val="306997"/>
                </a:solidFill>
                <a:latin typeface="Montserrat" panose="00000500000000000000" pitchFamily="2" charset="-52"/>
              </a:rPr>
              <a:t>сущности</a:t>
            </a:r>
            <a:endParaRPr b="1" dirty="0">
              <a:solidFill>
                <a:srgbClr val="306997"/>
              </a:solidFill>
              <a:latin typeface="Montserrat" panose="00000500000000000000" pitchFamily="2" charset="-5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58368" y="1938528"/>
            <a:ext cx="1883664" cy="1005840"/>
          </a:xfrm>
          <a:prstGeom prst="roundRect">
            <a:avLst>
              <a:gd name="adj" fmla="val 9933"/>
            </a:avLst>
          </a:prstGeom>
          <a:solidFill>
            <a:srgbClr val="E0EDF7"/>
          </a:solidFill>
          <a:ln w="12700">
            <a:solidFill>
              <a:srgbClr val="3069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8096" y="2139696"/>
            <a:ext cx="1664208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dirty="0">
                <a:solidFill>
                  <a:srgbClr val="306997"/>
                </a:solidFill>
                <a:latin typeface="Aptos"/>
              </a:rPr>
              <a:t>users/{</a:t>
            </a:r>
            <a:r>
              <a:rPr sz="1400" b="1" dirty="0" err="1">
                <a:solidFill>
                  <a:srgbClr val="306997"/>
                </a:solidFill>
                <a:latin typeface="Aptos"/>
              </a:rPr>
              <a:t>uid</a:t>
            </a:r>
            <a:r>
              <a:rPr sz="1400" b="1" dirty="0">
                <a:solidFill>
                  <a:srgbClr val="306997"/>
                </a:solidFill>
                <a:latin typeface="Aptos"/>
              </a:rPr>
              <a:t>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487168"/>
            <a:ext cx="1664208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 dirty="0" err="1">
                <a:solidFill>
                  <a:srgbClr val="53636C"/>
                </a:solidFill>
                <a:latin typeface="Aptos"/>
              </a:rPr>
              <a:t>роль</a:t>
            </a:r>
            <a:r>
              <a:rPr sz="1150" b="0" dirty="0">
                <a:solidFill>
                  <a:srgbClr val="53636C"/>
                </a:solidFill>
                <a:latin typeface="Aptos"/>
              </a:rPr>
              <a:t> и </a:t>
            </a:r>
            <a:r>
              <a:rPr sz="1150" b="0" dirty="0" err="1">
                <a:solidFill>
                  <a:srgbClr val="53636C"/>
                </a:solidFill>
                <a:latin typeface="Aptos"/>
              </a:rPr>
              <a:t>профиль</a:t>
            </a:r>
            <a:endParaRPr sz="1150" b="0" dirty="0">
              <a:solidFill>
                <a:srgbClr val="53636C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779776" y="1938528"/>
            <a:ext cx="1883664" cy="1005840"/>
          </a:xfrm>
          <a:prstGeom prst="roundRect">
            <a:avLst>
              <a:gd name="adj" fmla="val 7913"/>
            </a:avLst>
          </a:prstGeom>
          <a:solidFill>
            <a:srgbClr val="DEEDE5"/>
          </a:solidFill>
          <a:ln w="12700">
            <a:solidFill>
              <a:srgbClr val="1D5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889504" y="2139696"/>
            <a:ext cx="1664208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D5B45"/>
                </a:solidFill>
                <a:latin typeface="Aptos"/>
              </a:rPr>
              <a:t>families/{familyId}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9504" y="2487168"/>
            <a:ext cx="1664208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53636C"/>
                </a:solidFill>
                <a:latin typeface="Aptos"/>
              </a:rPr>
              <a:t>семейная группа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01183" y="1938528"/>
            <a:ext cx="1883664" cy="1005840"/>
          </a:xfrm>
          <a:prstGeom prst="roundRect">
            <a:avLst>
              <a:gd name="adj" fmla="val 7913"/>
            </a:avLst>
          </a:prstGeom>
          <a:solidFill>
            <a:srgbClr val="EBE5F7"/>
          </a:solidFill>
          <a:ln w="12700">
            <a:solidFill>
              <a:srgbClr val="6549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10912" y="2139696"/>
            <a:ext cx="1664208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654997"/>
                </a:solidFill>
                <a:latin typeface="Aptos"/>
              </a:rPr>
              <a:t>children/{childId}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10912" y="2487168"/>
            <a:ext cx="1664208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53636C"/>
                </a:solidFill>
                <a:latin typeface="Aptos"/>
              </a:rPr>
              <a:t>профиль ребенка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3364991"/>
            <a:ext cx="3108960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dirty="0" err="1">
                <a:solidFill>
                  <a:srgbClr val="654997"/>
                </a:solidFill>
                <a:latin typeface="Montserrat" panose="00000500000000000000" pitchFamily="2" charset="-52"/>
              </a:rPr>
              <a:t>Подколлекции</a:t>
            </a:r>
            <a:r>
              <a:rPr sz="1800" b="1" dirty="0">
                <a:solidFill>
                  <a:srgbClr val="654997"/>
                </a:solidFill>
                <a:latin typeface="Montserrat" panose="00000500000000000000" pitchFamily="2" charset="-52"/>
              </a:rPr>
              <a:t> </a:t>
            </a:r>
            <a:r>
              <a:rPr sz="1800" b="1" dirty="0" err="1">
                <a:solidFill>
                  <a:srgbClr val="654997"/>
                </a:solidFill>
                <a:latin typeface="Montserrat" panose="00000500000000000000" pitchFamily="2" charset="-52"/>
              </a:rPr>
              <a:t>ребенка</a:t>
            </a:r>
            <a:endParaRPr sz="1800" b="1" dirty="0">
              <a:solidFill>
                <a:srgbClr val="654997"/>
              </a:solidFill>
              <a:latin typeface="Montserrat" panose="00000500000000000000" pitchFamily="2" charset="-5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58368" y="3813048"/>
            <a:ext cx="1883664" cy="1005840"/>
          </a:xfrm>
          <a:prstGeom prst="roundRect">
            <a:avLst>
              <a:gd name="adj" fmla="val 7239"/>
            </a:avLst>
          </a:prstGeom>
          <a:solidFill>
            <a:srgbClr val="F9ECCD"/>
          </a:solidFill>
          <a:ln w="12700">
            <a:solidFill>
              <a:srgbClr val="CC8F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49808" y="4014215"/>
            <a:ext cx="1700784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30" b="1">
                <a:solidFill>
                  <a:srgbClr val="CC8F25"/>
                </a:solidFill>
                <a:latin typeface="Aptos"/>
              </a:rPr>
              <a:t>gameState/main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4361688"/>
            <a:ext cx="1700784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20" b="0">
                <a:solidFill>
                  <a:srgbClr val="53636C"/>
                </a:solidFill>
                <a:latin typeface="Aptos"/>
              </a:rPr>
              <a:t>уровень, XP, золото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79776" y="3813048"/>
            <a:ext cx="1883664" cy="1005840"/>
          </a:xfrm>
          <a:prstGeom prst="roundRect">
            <a:avLst>
              <a:gd name="adj" fmla="val 7913"/>
            </a:avLst>
          </a:prstGeom>
          <a:solidFill>
            <a:srgbClr val="E0EDF7"/>
          </a:solidFill>
          <a:ln w="12700">
            <a:solidFill>
              <a:srgbClr val="3069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871216" y="4014215"/>
            <a:ext cx="1700784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30" b="1">
                <a:solidFill>
                  <a:srgbClr val="306997"/>
                </a:solidFill>
                <a:latin typeface="Aptos"/>
              </a:rPr>
              <a:t>quests/{questId}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71216" y="4361688"/>
            <a:ext cx="1700784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20" b="0">
                <a:solidFill>
                  <a:srgbClr val="53636C"/>
                </a:solidFill>
                <a:latin typeface="Aptos"/>
              </a:rPr>
              <a:t>квест и его статусы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901183" y="3813048"/>
            <a:ext cx="1883664" cy="1005840"/>
          </a:xfrm>
          <a:prstGeom prst="roundRect">
            <a:avLst>
              <a:gd name="adj" fmla="val 7913"/>
            </a:avLst>
          </a:prstGeom>
          <a:solidFill>
            <a:srgbClr val="DEEDE5"/>
          </a:solidFill>
          <a:ln w="12700">
            <a:solidFill>
              <a:srgbClr val="1D5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992623" y="4014215"/>
            <a:ext cx="1700784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30" b="1">
                <a:solidFill>
                  <a:srgbClr val="1D5B45"/>
                </a:solidFill>
                <a:latin typeface="Aptos"/>
              </a:rPr>
              <a:t>rewardLedger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92623" y="4361688"/>
            <a:ext cx="1700784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20" b="0">
                <a:solidFill>
                  <a:srgbClr val="53636C"/>
                </a:solidFill>
                <a:latin typeface="Aptos"/>
              </a:rPr>
              <a:t>учет начислений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5184648"/>
            <a:ext cx="6126480" cy="740664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F9EC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02885" y="5325374"/>
            <a:ext cx="5650992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20" b="1" dirty="0" err="1">
                <a:solidFill>
                  <a:srgbClr val="192734"/>
                </a:solidFill>
                <a:latin typeface="Aptos"/>
              </a:rPr>
              <a:t>Небольшое</a:t>
            </a:r>
            <a:r>
              <a:rPr sz="1320" b="1" dirty="0">
                <a:solidFill>
                  <a:srgbClr val="192734"/>
                </a:solidFill>
                <a:latin typeface="Aptos"/>
              </a:rPr>
              <a:t> </a:t>
            </a:r>
            <a:r>
              <a:rPr sz="1320" b="1" dirty="0" err="1">
                <a:solidFill>
                  <a:srgbClr val="192734"/>
                </a:solidFill>
                <a:latin typeface="Aptos"/>
              </a:rPr>
              <a:t>изменение</a:t>
            </a:r>
            <a:r>
              <a:rPr sz="1320" b="1" dirty="0">
                <a:solidFill>
                  <a:srgbClr val="192734"/>
                </a:solidFill>
                <a:latin typeface="Aptos"/>
              </a:rPr>
              <a:t> </a:t>
            </a:r>
            <a:r>
              <a:rPr sz="1320" b="1" dirty="0" err="1">
                <a:solidFill>
                  <a:srgbClr val="192734"/>
                </a:solidFill>
                <a:latin typeface="Aptos"/>
              </a:rPr>
              <a:t>основной</a:t>
            </a:r>
            <a:r>
              <a:rPr sz="1320" b="1" dirty="0">
                <a:solidFill>
                  <a:srgbClr val="192734"/>
                </a:solidFill>
                <a:latin typeface="Aptos"/>
              </a:rPr>
              <a:t> БД: </a:t>
            </a:r>
            <a:r>
              <a:rPr sz="1320" b="1" dirty="0" err="1">
                <a:solidFill>
                  <a:srgbClr val="192734"/>
                </a:solidFill>
                <a:latin typeface="Aptos"/>
              </a:rPr>
              <a:t>новые</a:t>
            </a:r>
            <a:r>
              <a:rPr sz="1320" b="1" dirty="0">
                <a:solidFill>
                  <a:srgbClr val="192734"/>
                </a:solidFill>
                <a:latin typeface="Aptos"/>
              </a:rPr>
              <a:t> </a:t>
            </a:r>
            <a:r>
              <a:rPr sz="1320" b="1" dirty="0" err="1">
                <a:solidFill>
                  <a:srgbClr val="192734"/>
                </a:solidFill>
                <a:latin typeface="Aptos"/>
              </a:rPr>
              <a:t>поля</a:t>
            </a:r>
            <a:r>
              <a:rPr sz="1320" b="1" dirty="0">
                <a:solidFill>
                  <a:srgbClr val="192734"/>
                </a:solidFill>
                <a:latin typeface="Aptos"/>
              </a:rPr>
              <a:t> difficulty, </a:t>
            </a:r>
            <a:r>
              <a:rPr sz="1320" b="1" dirty="0" err="1">
                <a:solidFill>
                  <a:srgbClr val="192734"/>
                </a:solidFill>
                <a:latin typeface="Aptos"/>
              </a:rPr>
              <a:t>recommendationScore</a:t>
            </a:r>
            <a:r>
              <a:rPr sz="1320" b="1" dirty="0">
                <a:solidFill>
                  <a:srgbClr val="192734"/>
                </a:solidFill>
                <a:latin typeface="Aptos"/>
              </a:rPr>
              <a:t>, recommended и </a:t>
            </a:r>
            <a:r>
              <a:rPr sz="1320" b="1" dirty="0" err="1">
                <a:solidFill>
                  <a:srgbClr val="192734"/>
                </a:solidFill>
                <a:latin typeface="Aptos"/>
              </a:rPr>
              <a:t>временные</a:t>
            </a:r>
            <a:r>
              <a:rPr sz="1320" b="1" dirty="0">
                <a:solidFill>
                  <a:srgbClr val="192734"/>
                </a:solidFill>
                <a:latin typeface="Aptos"/>
              </a:rPr>
              <a:t> </a:t>
            </a:r>
            <a:r>
              <a:rPr sz="1320" b="1" dirty="0" err="1">
                <a:solidFill>
                  <a:srgbClr val="192734"/>
                </a:solidFill>
                <a:latin typeface="Aptos"/>
              </a:rPr>
              <a:t>метки</a:t>
            </a:r>
            <a:r>
              <a:rPr sz="1320" b="1" dirty="0">
                <a:solidFill>
                  <a:srgbClr val="192734"/>
                </a:solidFill>
                <a:latin typeface="Aptos"/>
              </a:rPr>
              <a:t>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150608" y="1527048"/>
            <a:ext cx="4498848" cy="4398264"/>
          </a:xfrm>
          <a:prstGeom prst="roundRect">
            <a:avLst>
              <a:gd name="adj" fmla="val 2191"/>
            </a:avLst>
          </a:prstGeom>
          <a:solidFill>
            <a:srgbClr val="DEEDE5"/>
          </a:solidFill>
          <a:ln w="12700">
            <a:solidFill>
              <a:srgbClr val="1D5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146036" y="1632771"/>
            <a:ext cx="4498848" cy="363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dirty="0" err="1">
                <a:solidFill>
                  <a:srgbClr val="1D5B45"/>
                </a:solidFill>
                <a:latin typeface="Montserrat" panose="00000500000000000000" pitchFamily="2" charset="-52"/>
              </a:rPr>
              <a:t>Новый</a:t>
            </a:r>
            <a:r>
              <a:rPr sz="2000" b="1" dirty="0">
                <a:solidFill>
                  <a:srgbClr val="1D5B45"/>
                </a:solidFill>
                <a:latin typeface="Montserrat" panose="00000500000000000000" pitchFamily="2" charset="-52"/>
              </a:rPr>
              <a:t> </a:t>
            </a:r>
            <a:r>
              <a:rPr sz="2000" b="1" dirty="0" err="1">
                <a:solidFill>
                  <a:srgbClr val="1D5B45"/>
                </a:solidFill>
                <a:latin typeface="Montserrat" panose="00000500000000000000" pitchFamily="2" charset="-52"/>
              </a:rPr>
              <a:t>аналитический</a:t>
            </a:r>
            <a:r>
              <a:rPr sz="2000" b="1" dirty="0">
                <a:solidFill>
                  <a:srgbClr val="1D5B45"/>
                </a:solidFill>
                <a:latin typeface="Montserrat" panose="00000500000000000000" pitchFamily="2" charset="-52"/>
              </a:rPr>
              <a:t> </a:t>
            </a:r>
            <a:r>
              <a:rPr sz="2000" b="1" dirty="0" err="1">
                <a:solidFill>
                  <a:srgbClr val="1D5B45"/>
                </a:solidFill>
                <a:latin typeface="Montserrat" panose="00000500000000000000" pitchFamily="2" charset="-52"/>
              </a:rPr>
              <a:t>контур</a:t>
            </a:r>
            <a:endParaRPr sz="2000" b="1" dirty="0">
              <a:solidFill>
                <a:srgbClr val="1D5B45"/>
              </a:solidFill>
              <a:latin typeface="Montserrat" panose="00000500000000000000" pitchFamily="2" charset="-52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7543800" y="2274154"/>
            <a:ext cx="3703320" cy="585216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1D5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751741" y="2433324"/>
            <a:ext cx="1627632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dirty="0" err="1">
                <a:solidFill>
                  <a:srgbClr val="1D5B45"/>
                </a:solidFill>
                <a:latin typeface="Aptos"/>
              </a:rPr>
              <a:t>questEvents</a:t>
            </a:r>
            <a:endParaRPr sz="1320" b="1" dirty="0">
              <a:solidFill>
                <a:srgbClr val="1D5B45"/>
              </a:solidFill>
              <a:latin typeface="Apto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9342797" y="2424180"/>
            <a:ext cx="1709928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 dirty="0" err="1">
                <a:solidFill>
                  <a:srgbClr val="53636C"/>
                </a:solidFill>
                <a:latin typeface="Aptos"/>
              </a:rPr>
              <a:t>неизменяемый</a:t>
            </a:r>
            <a:r>
              <a:rPr sz="1120" b="0" dirty="0">
                <a:solidFill>
                  <a:srgbClr val="53636C"/>
                </a:solidFill>
                <a:latin typeface="Aptos"/>
              </a:rPr>
              <a:t> </a:t>
            </a:r>
            <a:r>
              <a:rPr sz="1120" b="0" dirty="0" err="1">
                <a:solidFill>
                  <a:srgbClr val="53636C"/>
                </a:solidFill>
                <a:latin typeface="Aptos"/>
              </a:rPr>
              <a:t>журнал</a:t>
            </a:r>
            <a:r>
              <a:rPr sz="1120" b="0" dirty="0">
                <a:solidFill>
                  <a:srgbClr val="53636C"/>
                </a:solidFill>
                <a:latin typeface="Aptos"/>
              </a:rPr>
              <a:t> </a:t>
            </a:r>
            <a:r>
              <a:rPr sz="1120" b="0" dirty="0" err="1">
                <a:solidFill>
                  <a:srgbClr val="53636C"/>
                </a:solidFill>
                <a:latin typeface="Aptos"/>
              </a:rPr>
              <a:t>событий</a:t>
            </a:r>
            <a:endParaRPr sz="1120" b="0" dirty="0">
              <a:solidFill>
                <a:srgbClr val="53636C"/>
              </a:solidFill>
              <a:latin typeface="Aptos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7543800" y="3023962"/>
            <a:ext cx="3703320" cy="585216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1D5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751741" y="3183132"/>
            <a:ext cx="1627632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>
                <a:solidFill>
                  <a:srgbClr val="1D5B45"/>
                </a:solidFill>
                <a:latin typeface="Aptos"/>
              </a:rPr>
              <a:t>analyticsDaily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42797" y="3173987"/>
            <a:ext cx="1709928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3636C"/>
                </a:solidFill>
                <a:latin typeface="Aptos"/>
              </a:rPr>
              <a:t>агрегаты по датам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543800" y="3773770"/>
            <a:ext cx="3703320" cy="585216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1D5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751741" y="3932939"/>
            <a:ext cx="1627632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D5B45"/>
                </a:solidFill>
                <a:latin typeface="Aptos"/>
              </a:rPr>
              <a:t>analyticsByCategory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42797" y="3923796"/>
            <a:ext cx="1709928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3636C"/>
                </a:solidFill>
                <a:latin typeface="Aptos"/>
              </a:rPr>
              <a:t>признаки по категориям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543800" y="4523577"/>
            <a:ext cx="3703320" cy="585216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1D5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751741" y="4682747"/>
            <a:ext cx="1627632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>
                <a:solidFill>
                  <a:srgbClr val="1D5B45"/>
                </a:solidFill>
                <a:latin typeface="Aptos"/>
              </a:rPr>
              <a:t>recommendations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42797" y="4673603"/>
            <a:ext cx="1709928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53636C"/>
                </a:solidFill>
                <a:latin typeface="Aptos"/>
              </a:rPr>
              <a:t>результат expert-v1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96912" y="5364771"/>
            <a:ext cx="4096512" cy="44935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80" b="1">
                <a:solidFill>
                  <a:srgbClr val="1D5B45"/>
                </a:solidFill>
                <a:latin typeface="Aptos"/>
              </a:rPr>
              <a:t>Firestore Rules ограничивают доступ по роли и familyId.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B"/>
          </a:solidFill>
          <a:ln w="12700">
            <a:solidFill>
              <a:srgbClr val="F7F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92734">
              <a:alpha val="88000"/>
            </a:srgbClr>
          </a:solidFill>
          <a:ln w="12700">
            <a:solidFill>
              <a:srgbClr val="1D5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881360" cy="5016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dirty="0" err="1">
                <a:solidFill>
                  <a:srgbClr val="192734"/>
                </a:solidFill>
                <a:latin typeface="Montserrat Black" panose="00000A00000000000000" pitchFamily="2" charset="-52"/>
              </a:rPr>
              <a:t>Система</a:t>
            </a:r>
            <a:r>
              <a:rPr sz="2800" b="1" dirty="0">
                <a:solidFill>
                  <a:srgbClr val="192734"/>
                </a:solidFill>
                <a:latin typeface="Montserrat Black" panose="00000A00000000000000" pitchFamily="2" charset="-52"/>
              </a:rPr>
              <a:t> </a:t>
            </a:r>
            <a:r>
              <a:rPr sz="2800" b="1" dirty="0" err="1">
                <a:solidFill>
                  <a:srgbClr val="192734"/>
                </a:solidFill>
                <a:latin typeface="Montserrat Black" panose="00000A00000000000000" pitchFamily="2" charset="-52"/>
              </a:rPr>
              <a:t>аналитики</a:t>
            </a:r>
            <a:endParaRPr sz="2800" b="1" dirty="0">
              <a:solidFill>
                <a:srgbClr val="192734"/>
              </a:solidFill>
              <a:latin typeface="Montserrat Black" panose="00000A00000000000000" pitchFamily="2" charset="-5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71500" y="868511"/>
            <a:ext cx="960120" cy="54864"/>
          </a:xfrm>
          <a:prstGeom prst="rect">
            <a:avLst/>
          </a:prstGeom>
          <a:solidFill>
            <a:srgbClr val="CC8F25"/>
          </a:solidFill>
          <a:ln w="12700">
            <a:solidFill>
              <a:srgbClr val="CC8F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539728" y="6473952"/>
            <a:ext cx="365760" cy="1938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dirty="0">
                <a:solidFill>
                  <a:srgbClr val="53636C"/>
                </a:solidFill>
                <a:latin typeface="Aptos"/>
              </a:rPr>
              <a:t>0</a:t>
            </a:r>
            <a:r>
              <a:rPr lang="en-US" sz="900" b="1" dirty="0">
                <a:solidFill>
                  <a:srgbClr val="53636C"/>
                </a:solidFill>
                <a:latin typeface="Aptos"/>
              </a:rPr>
              <a:t>8</a:t>
            </a:r>
            <a:endParaRPr sz="900" b="1" dirty="0">
              <a:solidFill>
                <a:srgbClr val="53636C"/>
              </a:solidFill>
              <a:latin typeface="Apto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94360" y="1847088"/>
            <a:ext cx="2423160" cy="2377440"/>
          </a:xfrm>
          <a:prstGeom prst="roundRect">
            <a:avLst>
              <a:gd name="adj" fmla="val 8405"/>
            </a:avLst>
          </a:prstGeom>
          <a:solidFill>
            <a:srgbClr val="E0EDF7"/>
          </a:solidFill>
          <a:ln w="12700">
            <a:solidFill>
              <a:srgbClr val="3069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58952" y="2011680"/>
            <a:ext cx="457200" cy="457200"/>
          </a:xfrm>
          <a:prstGeom prst="ellipse">
            <a:avLst/>
          </a:prstGeom>
          <a:solidFill>
            <a:srgbClr val="306997"/>
          </a:solidFill>
          <a:ln>
            <a:solidFill>
              <a:srgbClr val="3069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8952" y="2139356"/>
            <a:ext cx="45720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dirty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07592" y="2039112"/>
            <a:ext cx="146304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ru-RU" sz="1900" b="1" dirty="0">
                <a:solidFill>
                  <a:srgbClr val="306997"/>
                </a:solidFill>
                <a:latin typeface="Aptos"/>
              </a:rPr>
              <a:t>С</a:t>
            </a:r>
            <a:r>
              <a:rPr sz="1900" b="1" dirty="0" err="1">
                <a:solidFill>
                  <a:srgbClr val="306997"/>
                </a:solidFill>
                <a:latin typeface="Aptos"/>
              </a:rPr>
              <a:t>об</a:t>
            </a:r>
            <a:r>
              <a:rPr lang="ru-RU" sz="1900" b="1" dirty="0">
                <a:solidFill>
                  <a:srgbClr val="306997"/>
                </a:solidFill>
                <a:latin typeface="Aptos"/>
              </a:rPr>
              <a:t>ы</a:t>
            </a:r>
            <a:r>
              <a:rPr sz="1900" b="1" dirty="0" err="1">
                <a:solidFill>
                  <a:srgbClr val="306997"/>
                </a:solidFill>
                <a:latin typeface="Aptos"/>
              </a:rPr>
              <a:t>тия</a:t>
            </a:r>
            <a:endParaRPr sz="1900" b="1" dirty="0">
              <a:solidFill>
                <a:srgbClr val="306997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95528" y="2688336"/>
            <a:ext cx="2011680" cy="102412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30" b="0" dirty="0">
                <a:solidFill>
                  <a:srgbClr val="192734"/>
                </a:solidFill>
                <a:latin typeface="Aptos"/>
              </a:rPr>
              <a:t>created · viewed · s</a:t>
            </a:r>
            <a:r>
              <a:rPr lang="en-US" sz="1330" b="0" dirty="0">
                <a:solidFill>
                  <a:srgbClr val="192734"/>
                </a:solidFill>
                <a:latin typeface="Aptos"/>
              </a:rPr>
              <a:t>u</a:t>
            </a:r>
            <a:r>
              <a:rPr sz="1330" b="0" dirty="0">
                <a:solidFill>
                  <a:srgbClr val="192734"/>
                </a:solidFill>
                <a:latin typeface="Aptos"/>
              </a:rPr>
              <a:t>bmitted
approved · rejected · claimed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044952" y="3026664"/>
            <a:ext cx="329184" cy="0"/>
          </a:xfrm>
          <a:prstGeom prst="line">
            <a:avLst/>
          </a:prstGeom>
          <a:ln w="31750">
            <a:solidFill>
              <a:srgbClr val="1927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450337" y="1847088"/>
            <a:ext cx="2423160" cy="2377440"/>
          </a:xfrm>
          <a:prstGeom prst="roundRect">
            <a:avLst>
              <a:gd name="adj" fmla="val 6980"/>
            </a:avLst>
          </a:prstGeom>
          <a:solidFill>
            <a:srgbClr val="EBE5F7"/>
          </a:solidFill>
          <a:ln w="12700">
            <a:solidFill>
              <a:srgbClr val="6549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621024" y="2011680"/>
            <a:ext cx="457200" cy="457200"/>
          </a:xfrm>
          <a:prstGeom prst="ellipse">
            <a:avLst/>
          </a:prstGeom>
          <a:solidFill>
            <a:srgbClr val="654997"/>
          </a:solidFill>
          <a:ln>
            <a:solidFill>
              <a:srgbClr val="6549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21024" y="2139356"/>
            <a:ext cx="45720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9663" y="2039112"/>
            <a:ext cx="146304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654997"/>
                </a:solidFill>
                <a:latin typeface="Aptos"/>
              </a:rPr>
              <a:t>Агрегация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688336"/>
            <a:ext cx="2011680" cy="102412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30" b="0">
                <a:solidFill>
                  <a:srgbClr val="192734"/>
                </a:solidFill>
                <a:latin typeface="Aptos"/>
              </a:rPr>
              <a:t>по дням и категориям
Cloud Functions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907024" y="3026664"/>
            <a:ext cx="329184" cy="0"/>
          </a:xfrm>
          <a:prstGeom prst="line">
            <a:avLst/>
          </a:prstGeom>
          <a:ln w="31750">
            <a:solidFill>
              <a:srgbClr val="1927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318504" y="1847088"/>
            <a:ext cx="2423160" cy="2377440"/>
          </a:xfrm>
          <a:prstGeom prst="roundRect">
            <a:avLst>
              <a:gd name="adj" fmla="val 6126"/>
            </a:avLst>
          </a:prstGeom>
          <a:solidFill>
            <a:srgbClr val="F9ECCD"/>
          </a:solidFill>
          <a:ln w="12700">
            <a:solidFill>
              <a:srgbClr val="CC8F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483096" y="2011680"/>
            <a:ext cx="457200" cy="457200"/>
          </a:xfrm>
          <a:prstGeom prst="ellipse">
            <a:avLst/>
          </a:prstGeom>
          <a:solidFill>
            <a:srgbClr val="CC8F25"/>
          </a:solidFill>
          <a:ln>
            <a:solidFill>
              <a:srgbClr val="CC8F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83096" y="2139356"/>
            <a:ext cx="45720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31736" y="2039112"/>
            <a:ext cx="146304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CC8F25"/>
                </a:solidFill>
                <a:latin typeface="Aptos"/>
              </a:rPr>
              <a:t>Показатели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9672" y="2688336"/>
            <a:ext cx="2011680" cy="102412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30" b="0">
                <a:solidFill>
                  <a:srgbClr val="192734"/>
                </a:solidFill>
                <a:latin typeface="Aptos"/>
              </a:rPr>
              <a:t>completionRate · rejectionRate
avgSubmitHours · viewToSubmitRate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769096" y="3026664"/>
            <a:ext cx="329184" cy="0"/>
          </a:xfrm>
          <a:prstGeom prst="line">
            <a:avLst/>
          </a:prstGeom>
          <a:ln w="31750">
            <a:solidFill>
              <a:srgbClr val="1927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180576" y="1847088"/>
            <a:ext cx="2423160" cy="2377440"/>
          </a:xfrm>
          <a:prstGeom prst="roundRect">
            <a:avLst>
              <a:gd name="adj" fmla="val 5271"/>
            </a:avLst>
          </a:prstGeom>
          <a:solidFill>
            <a:srgbClr val="DEEDE5"/>
          </a:solidFill>
          <a:ln w="12700">
            <a:solidFill>
              <a:srgbClr val="1D5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9345168" y="2011680"/>
            <a:ext cx="457200" cy="457200"/>
          </a:xfrm>
          <a:prstGeom prst="ellipse">
            <a:avLst/>
          </a:prstGeom>
          <a:solidFill>
            <a:srgbClr val="1D5B45"/>
          </a:solidFill>
          <a:ln>
            <a:solidFill>
              <a:srgbClr val="1D5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345168" y="2139356"/>
            <a:ext cx="45720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93808" y="2039112"/>
            <a:ext cx="146304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1D5B45"/>
                </a:solidFill>
                <a:latin typeface="Aptos"/>
              </a:rPr>
              <a:t>Интерфейс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81744" y="2688336"/>
            <a:ext cx="2011680" cy="102412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30" b="0">
                <a:solidFill>
                  <a:srgbClr val="192734"/>
                </a:solidFill>
                <a:latin typeface="Aptos"/>
              </a:rPr>
              <a:t>динамика, проблемные категории
и рекомендации родителю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4800600"/>
            <a:ext cx="10771632" cy="902547"/>
          </a:xfrm>
          <a:prstGeom prst="roundRect">
            <a:avLst>
              <a:gd name="adj" fmla="val 9260"/>
            </a:avLst>
          </a:prstGeom>
          <a:solidFill>
            <a:srgbClr val="FFFDF8"/>
          </a:solidFill>
          <a:ln w="12700">
            <a:solidFill>
              <a:srgbClr val="F9EC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7532" y="4904968"/>
            <a:ext cx="101041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dirty="0" err="1">
                <a:solidFill>
                  <a:srgbClr val="1D5B45"/>
                </a:solidFill>
                <a:latin typeface="Aptos"/>
              </a:rPr>
              <a:t>Принцип</a:t>
            </a:r>
            <a:r>
              <a:rPr sz="1600" b="1" dirty="0">
                <a:solidFill>
                  <a:srgbClr val="1D5B45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1D5B45"/>
                </a:solidFill>
                <a:latin typeface="Aptos"/>
              </a:rPr>
              <a:t>устойчивости</a:t>
            </a:r>
            <a:r>
              <a:rPr sz="1600" b="1" dirty="0">
                <a:solidFill>
                  <a:srgbClr val="1D5B45"/>
                </a:solidFill>
                <a:latin typeface="Aptos"/>
              </a:rPr>
              <a:t>: </a:t>
            </a:r>
            <a:r>
              <a:rPr sz="1600" b="0" dirty="0" err="1">
                <a:solidFill>
                  <a:srgbClr val="192734"/>
                </a:solidFill>
                <a:latin typeface="Aptos"/>
              </a:rPr>
              <a:t>ошибка</a:t>
            </a:r>
            <a:r>
              <a:rPr sz="1600" b="0" dirty="0">
                <a:solidFill>
                  <a:srgbClr val="192734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192734"/>
                </a:solidFill>
                <a:latin typeface="Aptos"/>
              </a:rPr>
              <a:t>записи</a:t>
            </a:r>
            <a:r>
              <a:rPr sz="1600" b="0" dirty="0">
                <a:solidFill>
                  <a:srgbClr val="192734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192734"/>
                </a:solidFill>
                <a:latin typeface="Aptos"/>
              </a:rPr>
              <a:t>аналитического</a:t>
            </a:r>
            <a:r>
              <a:rPr sz="1600" b="0" dirty="0">
                <a:solidFill>
                  <a:srgbClr val="192734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192734"/>
                </a:solidFill>
                <a:latin typeface="Aptos"/>
              </a:rPr>
              <a:t>события</a:t>
            </a:r>
            <a:r>
              <a:rPr sz="1600" b="0" dirty="0">
                <a:solidFill>
                  <a:srgbClr val="192734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192734"/>
                </a:solidFill>
                <a:latin typeface="Aptos"/>
              </a:rPr>
              <a:t>не</a:t>
            </a:r>
            <a:r>
              <a:rPr sz="1600" b="0" dirty="0">
                <a:solidFill>
                  <a:srgbClr val="192734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192734"/>
                </a:solidFill>
                <a:latin typeface="Aptos"/>
              </a:rPr>
              <a:t>блокирует</a:t>
            </a:r>
            <a:r>
              <a:rPr sz="1600" b="0" dirty="0">
                <a:solidFill>
                  <a:srgbClr val="192734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192734"/>
                </a:solidFill>
                <a:latin typeface="Aptos"/>
              </a:rPr>
              <a:t>создание</a:t>
            </a:r>
            <a:r>
              <a:rPr sz="1600" b="0" dirty="0">
                <a:solidFill>
                  <a:srgbClr val="192734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192734"/>
                </a:solidFill>
                <a:latin typeface="Aptos"/>
              </a:rPr>
              <a:t>квеста</a:t>
            </a:r>
            <a:r>
              <a:rPr sz="1600" b="0" dirty="0">
                <a:solidFill>
                  <a:srgbClr val="192734"/>
                </a:solidFill>
                <a:latin typeface="Aptos"/>
              </a:rPr>
              <a:t>, </a:t>
            </a:r>
            <a:r>
              <a:rPr sz="1600" b="0" dirty="0" err="1">
                <a:solidFill>
                  <a:srgbClr val="192734"/>
                </a:solidFill>
                <a:latin typeface="Aptos"/>
              </a:rPr>
              <a:t>проверку</a:t>
            </a:r>
            <a:r>
              <a:rPr sz="1600" b="0" dirty="0">
                <a:solidFill>
                  <a:srgbClr val="192734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192734"/>
                </a:solidFill>
                <a:latin typeface="Aptos"/>
              </a:rPr>
              <a:t>или</a:t>
            </a:r>
            <a:r>
              <a:rPr sz="1600" b="0" dirty="0">
                <a:solidFill>
                  <a:srgbClr val="192734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192734"/>
                </a:solidFill>
                <a:latin typeface="Aptos"/>
              </a:rPr>
              <a:t>получение</a:t>
            </a:r>
            <a:r>
              <a:rPr sz="1600" b="0" dirty="0">
                <a:solidFill>
                  <a:srgbClr val="192734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192734"/>
                </a:solidFill>
                <a:latin typeface="Aptos"/>
              </a:rPr>
              <a:t>награды</a:t>
            </a:r>
            <a:r>
              <a:rPr sz="1600" b="0" dirty="0">
                <a:solidFill>
                  <a:srgbClr val="192734"/>
                </a:solidFill>
                <a:latin typeface="Aptos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B"/>
          </a:solidFill>
          <a:ln w="12700">
            <a:solidFill>
              <a:srgbClr val="F7F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92734">
              <a:alpha val="88000"/>
            </a:srgbClr>
          </a:solidFill>
          <a:ln w="12700">
            <a:solidFill>
              <a:srgbClr val="1D5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881360" cy="5016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ru-RU" sz="2800" b="1" dirty="0">
                <a:solidFill>
                  <a:srgbClr val="192734"/>
                </a:solidFill>
                <a:latin typeface="Montserrat Black" panose="00000A00000000000000" pitchFamily="2" charset="-52"/>
              </a:rPr>
              <a:t>Система аналитики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" y="868511"/>
            <a:ext cx="960120" cy="54864"/>
          </a:xfrm>
          <a:prstGeom prst="rect">
            <a:avLst/>
          </a:prstGeom>
          <a:solidFill>
            <a:srgbClr val="CC8F25"/>
          </a:solidFill>
          <a:ln w="12700">
            <a:solidFill>
              <a:srgbClr val="CC8F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539728" y="6473952"/>
            <a:ext cx="365760" cy="1938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dirty="0">
                <a:solidFill>
                  <a:srgbClr val="53636C"/>
                </a:solidFill>
                <a:latin typeface="Aptos"/>
              </a:rPr>
              <a:t>0</a:t>
            </a:r>
            <a:r>
              <a:rPr lang="en-US" sz="900" b="1" dirty="0">
                <a:solidFill>
                  <a:srgbClr val="53636C"/>
                </a:solidFill>
                <a:latin typeface="Aptos"/>
              </a:rPr>
              <a:t>9</a:t>
            </a:r>
            <a:endParaRPr sz="900" b="1" dirty="0">
              <a:solidFill>
                <a:srgbClr val="53636C"/>
              </a:solidFill>
              <a:latin typeface="Aptos"/>
            </a:endParaRPr>
          </a:p>
        </p:txBody>
      </p:sp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E260AA79-8B79-40A9-A53C-300E8FB82B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19199"/>
            <a:ext cx="11402568" cy="4757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3198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B"/>
          </a:solidFill>
          <a:ln w="12700">
            <a:solidFill>
              <a:srgbClr val="F7F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92734">
              <a:alpha val="88000"/>
            </a:srgbClr>
          </a:solidFill>
          <a:ln w="12700">
            <a:solidFill>
              <a:srgbClr val="1D5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539728" y="6473952"/>
            <a:ext cx="365760" cy="1938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US" sz="900" b="1" dirty="0">
                <a:solidFill>
                  <a:srgbClr val="53636C"/>
                </a:solidFill>
                <a:latin typeface="Aptos"/>
              </a:rPr>
              <a:t>1</a:t>
            </a:r>
            <a:r>
              <a:rPr sz="900" b="1" dirty="0">
                <a:solidFill>
                  <a:srgbClr val="53636C"/>
                </a:solidFill>
                <a:latin typeface="Aptos"/>
              </a:rPr>
              <a:t>0</a:t>
            </a:r>
          </a:p>
        </p:txBody>
      </p:sp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D52C5B91-757B-4121-9A55-154AE398FB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902" y="106342"/>
            <a:ext cx="11320196" cy="636761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B"/>
          </a:solidFill>
          <a:ln w="12700">
            <a:solidFill>
              <a:srgbClr val="F7F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92734">
              <a:alpha val="88000"/>
            </a:srgbClr>
          </a:solidFill>
          <a:ln w="12700">
            <a:solidFill>
              <a:srgbClr val="1D5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539728" y="6473952"/>
            <a:ext cx="365760" cy="1938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US" sz="900" b="1" dirty="0">
                <a:solidFill>
                  <a:srgbClr val="53636C"/>
                </a:solidFill>
                <a:latin typeface="Aptos"/>
              </a:rPr>
              <a:t>11</a:t>
            </a:r>
            <a:endParaRPr sz="900" b="1" dirty="0">
              <a:solidFill>
                <a:srgbClr val="53636C"/>
              </a:solidFill>
              <a:latin typeface="Aptos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10A7085-3721-4235-81A5-5325FA9E56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092" y="190149"/>
            <a:ext cx="11847510" cy="6136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2817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B"/>
          </a:solidFill>
          <a:ln w="12700">
            <a:solidFill>
              <a:srgbClr val="F7F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92734">
              <a:alpha val="88000"/>
            </a:srgbClr>
          </a:solidFill>
          <a:ln w="12700">
            <a:solidFill>
              <a:srgbClr val="1D5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881360" cy="5016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dirty="0" err="1">
                <a:solidFill>
                  <a:srgbClr val="192734"/>
                </a:solidFill>
                <a:latin typeface="Montserrat Black" panose="00000A00000000000000" pitchFamily="2" charset="-52"/>
              </a:rPr>
              <a:t>Демонстрация</a:t>
            </a:r>
            <a:r>
              <a:rPr sz="2800" b="1" dirty="0">
                <a:solidFill>
                  <a:srgbClr val="192734"/>
                </a:solidFill>
                <a:latin typeface="Montserrat Black" panose="00000A00000000000000" pitchFamily="2" charset="-52"/>
              </a:rPr>
              <a:t> </a:t>
            </a:r>
            <a:r>
              <a:rPr sz="2800" b="1" dirty="0" err="1">
                <a:solidFill>
                  <a:srgbClr val="192734"/>
                </a:solidFill>
                <a:latin typeface="Montserrat Black" panose="00000A00000000000000" pitchFamily="2" charset="-52"/>
              </a:rPr>
              <a:t>работы</a:t>
            </a:r>
            <a:r>
              <a:rPr sz="2800" b="1" dirty="0">
                <a:solidFill>
                  <a:srgbClr val="192734"/>
                </a:solidFill>
                <a:latin typeface="Montserrat Black" panose="00000A00000000000000" pitchFamily="2" charset="-52"/>
              </a:rPr>
              <a:t> </a:t>
            </a:r>
            <a:r>
              <a:rPr sz="2800" b="1" dirty="0" err="1">
                <a:solidFill>
                  <a:srgbClr val="192734"/>
                </a:solidFill>
                <a:latin typeface="Montserrat Black" panose="00000A00000000000000" pitchFamily="2" charset="-52"/>
              </a:rPr>
              <a:t>приложения</a:t>
            </a:r>
            <a:endParaRPr sz="2800" b="1" dirty="0">
              <a:solidFill>
                <a:srgbClr val="192734"/>
              </a:solidFill>
              <a:latin typeface="Montserrat Black" panose="00000A00000000000000" pitchFamily="2" charset="-5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30352" y="896112"/>
            <a:ext cx="960120" cy="54864"/>
          </a:xfrm>
          <a:prstGeom prst="rect">
            <a:avLst/>
          </a:prstGeom>
          <a:solidFill>
            <a:srgbClr val="CC8F25"/>
          </a:solidFill>
          <a:ln w="12700">
            <a:solidFill>
              <a:srgbClr val="CC8F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539728" y="6473952"/>
            <a:ext cx="365760" cy="1938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dirty="0">
                <a:solidFill>
                  <a:srgbClr val="53636C"/>
                </a:solidFill>
                <a:latin typeface="Aptos"/>
              </a:rPr>
              <a:t>1</a:t>
            </a:r>
            <a:r>
              <a:rPr lang="en-US" sz="900" b="1" dirty="0">
                <a:solidFill>
                  <a:srgbClr val="53636C"/>
                </a:solidFill>
                <a:latin typeface="Aptos"/>
              </a:rPr>
              <a:t>0</a:t>
            </a:r>
            <a:endParaRPr sz="900" b="1" dirty="0">
              <a:solidFill>
                <a:srgbClr val="53636C"/>
              </a:solidFill>
              <a:latin typeface="Apto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58368" y="1141756"/>
            <a:ext cx="10881360" cy="5277332"/>
          </a:xfrm>
          <a:prstGeom prst="roundRect">
            <a:avLst>
              <a:gd name="adj" fmla="val 3447"/>
            </a:avLst>
          </a:prstGeom>
          <a:solidFill>
            <a:srgbClr val="141A1D"/>
          </a:solidFill>
          <a:ln w="12700">
            <a:solidFill>
              <a:srgbClr val="4B5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D2CB30DA-2382-4337-AA03-BA82FE7CE21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578" b="2773"/>
          <a:stretch/>
        </p:blipFill>
        <p:spPr>
          <a:xfrm>
            <a:off x="0" y="8805"/>
            <a:ext cx="12325988" cy="684919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B"/>
          </a:solidFill>
          <a:ln w="12700">
            <a:solidFill>
              <a:srgbClr val="F7F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92734">
              <a:alpha val="88000"/>
            </a:srgbClr>
          </a:solidFill>
          <a:ln w="12700">
            <a:solidFill>
              <a:srgbClr val="1D5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541020"/>
            <a:ext cx="10881360" cy="5016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dirty="0" err="1">
                <a:solidFill>
                  <a:srgbClr val="192734"/>
                </a:solidFill>
                <a:latin typeface="Montserrat Black" panose="00000A00000000000000" pitchFamily="2" charset="-52"/>
              </a:rPr>
              <a:t>Результаты</a:t>
            </a:r>
            <a:r>
              <a:rPr sz="2800" b="1" dirty="0">
                <a:solidFill>
                  <a:srgbClr val="192734"/>
                </a:solidFill>
                <a:latin typeface="Montserrat Black" panose="00000A00000000000000" pitchFamily="2" charset="-52"/>
              </a:rPr>
              <a:t> </a:t>
            </a:r>
            <a:r>
              <a:rPr sz="2800" b="1" dirty="0" err="1">
                <a:solidFill>
                  <a:srgbClr val="192734"/>
                </a:solidFill>
                <a:latin typeface="Montserrat Black" panose="00000A00000000000000" pitchFamily="2" charset="-52"/>
              </a:rPr>
              <a:t>модернизации</a:t>
            </a:r>
            <a:endParaRPr sz="2800" b="1" dirty="0">
              <a:solidFill>
                <a:srgbClr val="192734"/>
              </a:solidFill>
              <a:latin typeface="Montserrat Black" panose="00000A00000000000000" pitchFamily="2" charset="-5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1098804"/>
            <a:ext cx="960120" cy="54864"/>
          </a:xfrm>
          <a:prstGeom prst="rect">
            <a:avLst/>
          </a:prstGeom>
          <a:solidFill>
            <a:srgbClr val="CC8F25"/>
          </a:solidFill>
          <a:ln w="12700">
            <a:solidFill>
              <a:srgbClr val="CC8F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539728" y="6473952"/>
            <a:ext cx="365760" cy="1938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dirty="0">
                <a:solidFill>
                  <a:srgbClr val="53636C"/>
                </a:solidFill>
                <a:latin typeface="Aptos"/>
              </a:rPr>
              <a:t>1</a:t>
            </a:r>
            <a:r>
              <a:rPr lang="en-US" sz="900" b="1" dirty="0">
                <a:solidFill>
                  <a:srgbClr val="53636C"/>
                </a:solidFill>
                <a:latin typeface="Aptos"/>
              </a:rPr>
              <a:t>2</a:t>
            </a:r>
            <a:endParaRPr sz="900" b="1" dirty="0">
              <a:solidFill>
                <a:srgbClr val="53636C"/>
              </a:solidFill>
              <a:latin typeface="Apto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58368" y="1572768"/>
            <a:ext cx="2743200" cy="566928"/>
          </a:xfrm>
          <a:prstGeom prst="rect">
            <a:avLst/>
          </a:prstGeom>
          <a:solidFill>
            <a:srgbClr val="192734">
              <a:alpha val="88000"/>
            </a:srgbClr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8096" y="1728216"/>
            <a:ext cx="2523744" cy="2377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50" b="1">
                <a:solidFill>
                  <a:srgbClr val="FFFFFF"/>
                </a:solidFill>
                <a:latin typeface="Aptos"/>
              </a:rPr>
              <a:t>Критерий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01568" y="1572768"/>
            <a:ext cx="3154680" cy="566928"/>
          </a:xfrm>
          <a:prstGeom prst="rect">
            <a:avLst/>
          </a:prstGeom>
          <a:solidFill>
            <a:srgbClr val="192734">
              <a:alpha val="88000"/>
            </a:srgbClr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11296" y="1728216"/>
            <a:ext cx="2935224" cy="2377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50" b="1">
                <a:solidFill>
                  <a:srgbClr val="FFFFFF"/>
                </a:solidFill>
                <a:latin typeface="Aptos"/>
              </a:rPr>
              <a:t>Исходная версия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56248" y="1572768"/>
            <a:ext cx="4892040" cy="566928"/>
          </a:xfrm>
          <a:prstGeom prst="rect">
            <a:avLst/>
          </a:prstGeom>
          <a:solidFill>
            <a:srgbClr val="192734">
              <a:alpha val="87843"/>
            </a:srgbClr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65976" y="1728216"/>
            <a:ext cx="4672583" cy="2377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50" b="1">
                <a:solidFill>
                  <a:srgbClr val="FFFFFF"/>
                </a:solidFill>
                <a:latin typeface="Aptos"/>
              </a:rPr>
              <a:t>Итоговая версия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2139696"/>
            <a:ext cx="2743200" cy="621792"/>
          </a:xfrm>
          <a:prstGeom prst="rect">
            <a:avLst/>
          </a:prstGeom>
          <a:solidFill>
            <a:srgbClr val="FFFDF8"/>
          </a:solidFill>
          <a:ln w="12700">
            <a:solidFill>
              <a:srgbClr val="DCDA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95528" y="2276856"/>
            <a:ext cx="2468880" cy="32004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80" b="1" dirty="0" err="1">
                <a:solidFill>
                  <a:srgbClr val="192734"/>
                </a:solidFill>
                <a:latin typeface="Aptos"/>
              </a:rPr>
              <a:t>Архитектура</a:t>
            </a:r>
            <a:endParaRPr sz="1280" b="1" dirty="0">
              <a:solidFill>
                <a:srgbClr val="192734"/>
              </a:solidFill>
              <a:latin typeface="Apto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401568" y="2139696"/>
            <a:ext cx="3154680" cy="621792"/>
          </a:xfrm>
          <a:prstGeom prst="rect">
            <a:avLst/>
          </a:prstGeom>
          <a:solidFill>
            <a:srgbClr val="FFFDF8"/>
          </a:solidFill>
          <a:ln w="12700">
            <a:solidFill>
              <a:srgbClr val="DCDA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538728" y="2310687"/>
            <a:ext cx="2880360" cy="252377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80" b="0" dirty="0" err="1">
                <a:solidFill>
                  <a:schemeClr val="accent2">
                    <a:lumMod val="75000"/>
                  </a:schemeClr>
                </a:solidFill>
                <a:latin typeface="Aptos"/>
              </a:rPr>
              <a:t>Один</a:t>
            </a:r>
            <a:r>
              <a:rPr sz="1280" b="0" dirty="0">
                <a:solidFill>
                  <a:schemeClr val="accent2">
                    <a:lumMod val="75000"/>
                  </a:schemeClr>
                </a:solidFill>
                <a:latin typeface="Aptos"/>
              </a:rPr>
              <a:t> Unity-</a:t>
            </a:r>
            <a:r>
              <a:rPr sz="1280" b="0" dirty="0" err="1">
                <a:solidFill>
                  <a:schemeClr val="accent2">
                    <a:lumMod val="75000"/>
                  </a:schemeClr>
                </a:solidFill>
                <a:latin typeface="Aptos"/>
              </a:rPr>
              <a:t>клиент</a:t>
            </a:r>
            <a:endParaRPr sz="1280" b="0" dirty="0">
              <a:solidFill>
                <a:schemeClr val="accent2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556248" y="2139696"/>
            <a:ext cx="4892040" cy="621792"/>
          </a:xfrm>
          <a:prstGeom prst="rect">
            <a:avLst/>
          </a:prstGeom>
          <a:solidFill>
            <a:srgbClr val="FFFDF8"/>
          </a:solidFill>
          <a:ln w="12700">
            <a:solidFill>
              <a:srgbClr val="DCDA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93408" y="2310687"/>
            <a:ext cx="4617720" cy="252377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80" b="1" dirty="0">
                <a:solidFill>
                  <a:srgbClr val="169A3F"/>
                </a:solidFill>
                <a:latin typeface="Aptos"/>
              </a:rPr>
              <a:t>Unity + Next.js + Firebase + Functions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2761488"/>
            <a:ext cx="2743200" cy="621792"/>
          </a:xfrm>
          <a:prstGeom prst="rect">
            <a:avLst/>
          </a:prstGeom>
          <a:solidFill>
            <a:srgbClr val="F0EEE6"/>
          </a:solidFill>
          <a:ln w="12700">
            <a:solidFill>
              <a:srgbClr val="DCDA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95528" y="2898648"/>
            <a:ext cx="2468880" cy="32004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80" b="1">
                <a:solidFill>
                  <a:srgbClr val="192734"/>
                </a:solidFill>
                <a:latin typeface="Aptos"/>
              </a:rPr>
              <a:t>Задания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01568" y="2761488"/>
            <a:ext cx="3154680" cy="621792"/>
          </a:xfrm>
          <a:prstGeom prst="rect">
            <a:avLst/>
          </a:prstGeom>
          <a:solidFill>
            <a:srgbClr val="F0EEE6"/>
          </a:solidFill>
          <a:ln w="12700">
            <a:solidFill>
              <a:srgbClr val="DCDA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538728" y="2932479"/>
            <a:ext cx="2880360" cy="252377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80" b="0" dirty="0" err="1">
                <a:solidFill>
                  <a:schemeClr val="accent2">
                    <a:lumMod val="75000"/>
                  </a:schemeClr>
                </a:solidFill>
                <a:latin typeface="Aptos"/>
              </a:rPr>
              <a:t>Локальный</a:t>
            </a:r>
            <a:r>
              <a:rPr sz="1280" b="0" dirty="0">
                <a:solidFill>
                  <a:schemeClr val="accent2">
                    <a:lumMod val="75000"/>
                  </a:schemeClr>
                </a:solidFill>
                <a:latin typeface="Aptos"/>
              </a:rPr>
              <a:t> </a:t>
            </a:r>
            <a:r>
              <a:rPr sz="1280" b="0" dirty="0" err="1">
                <a:solidFill>
                  <a:schemeClr val="accent2">
                    <a:lumMod val="75000"/>
                  </a:schemeClr>
                </a:solidFill>
                <a:latin typeface="Aptos"/>
              </a:rPr>
              <a:t>список</a:t>
            </a:r>
            <a:endParaRPr sz="1280" b="0" dirty="0">
              <a:solidFill>
                <a:schemeClr val="accent2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556248" y="2761488"/>
            <a:ext cx="4892040" cy="621792"/>
          </a:xfrm>
          <a:prstGeom prst="rect">
            <a:avLst/>
          </a:prstGeom>
          <a:solidFill>
            <a:srgbClr val="F0EEE6"/>
          </a:solidFill>
          <a:ln w="12700">
            <a:solidFill>
              <a:srgbClr val="DCDA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693408" y="2932479"/>
            <a:ext cx="4617720" cy="252377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80" b="1" dirty="0" err="1">
                <a:solidFill>
                  <a:srgbClr val="169A3F"/>
                </a:solidFill>
                <a:latin typeface="Aptos"/>
              </a:rPr>
              <a:t>Полный</a:t>
            </a:r>
            <a:r>
              <a:rPr sz="1280" b="1" dirty="0">
                <a:solidFill>
                  <a:srgbClr val="169A3F"/>
                </a:solidFill>
                <a:latin typeface="Aptos"/>
              </a:rPr>
              <a:t> </a:t>
            </a:r>
            <a:r>
              <a:rPr sz="1280" b="1" dirty="0" err="1">
                <a:solidFill>
                  <a:srgbClr val="169A3F"/>
                </a:solidFill>
                <a:latin typeface="Aptos"/>
              </a:rPr>
              <a:t>цикл</a:t>
            </a:r>
            <a:r>
              <a:rPr sz="1280" b="1" dirty="0">
                <a:solidFill>
                  <a:srgbClr val="169A3F"/>
                </a:solidFill>
                <a:latin typeface="Aptos"/>
              </a:rPr>
              <a:t> parent ↔ child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3383280"/>
            <a:ext cx="2743200" cy="621792"/>
          </a:xfrm>
          <a:prstGeom prst="rect">
            <a:avLst/>
          </a:prstGeom>
          <a:solidFill>
            <a:srgbClr val="FFFDF8"/>
          </a:solidFill>
          <a:ln w="12700">
            <a:solidFill>
              <a:srgbClr val="DCDA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95528" y="3520440"/>
            <a:ext cx="2468880" cy="32004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80" b="1">
                <a:solidFill>
                  <a:srgbClr val="192734"/>
                </a:solidFill>
                <a:latin typeface="Aptos"/>
              </a:rPr>
              <a:t>Данные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401568" y="3383280"/>
            <a:ext cx="3154680" cy="621792"/>
          </a:xfrm>
          <a:prstGeom prst="rect">
            <a:avLst/>
          </a:prstGeom>
          <a:solidFill>
            <a:srgbClr val="FFFDF8"/>
          </a:solidFill>
          <a:ln w="12700">
            <a:solidFill>
              <a:srgbClr val="DCDA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538728" y="3554271"/>
            <a:ext cx="2880360" cy="252377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80" b="0" dirty="0" err="1">
                <a:solidFill>
                  <a:schemeClr val="accent2">
                    <a:lumMod val="75000"/>
                  </a:schemeClr>
                </a:solidFill>
                <a:latin typeface="Aptos"/>
              </a:rPr>
              <a:t>Игровое</a:t>
            </a:r>
            <a:r>
              <a:rPr sz="1280" b="0" dirty="0">
                <a:solidFill>
                  <a:schemeClr val="accent2">
                    <a:lumMod val="75000"/>
                  </a:schemeClr>
                </a:solidFill>
                <a:latin typeface="Aptos"/>
              </a:rPr>
              <a:t> </a:t>
            </a:r>
            <a:r>
              <a:rPr sz="1280" b="0" dirty="0" err="1">
                <a:solidFill>
                  <a:schemeClr val="accent2">
                    <a:lumMod val="75000"/>
                  </a:schemeClr>
                </a:solidFill>
                <a:latin typeface="Aptos"/>
              </a:rPr>
              <a:t>состояние</a:t>
            </a:r>
            <a:endParaRPr sz="1280" b="0" dirty="0">
              <a:solidFill>
                <a:schemeClr val="accent2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6556248" y="3383280"/>
            <a:ext cx="4892040" cy="621792"/>
          </a:xfrm>
          <a:prstGeom prst="rect">
            <a:avLst/>
          </a:prstGeom>
          <a:solidFill>
            <a:srgbClr val="FFFDF8"/>
          </a:solidFill>
          <a:ln w="12700">
            <a:solidFill>
              <a:srgbClr val="DCDA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693408" y="3554271"/>
            <a:ext cx="4617720" cy="252377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80" b="1" dirty="0" err="1">
                <a:solidFill>
                  <a:srgbClr val="169A3F"/>
                </a:solidFill>
                <a:latin typeface="Aptos"/>
              </a:rPr>
              <a:t>Роли</a:t>
            </a:r>
            <a:r>
              <a:rPr sz="1280" b="1" dirty="0">
                <a:solidFill>
                  <a:srgbClr val="169A3F"/>
                </a:solidFill>
                <a:latin typeface="Aptos"/>
              </a:rPr>
              <a:t>, </a:t>
            </a:r>
            <a:r>
              <a:rPr sz="1280" b="1" dirty="0" err="1">
                <a:solidFill>
                  <a:srgbClr val="169A3F"/>
                </a:solidFill>
                <a:latin typeface="Aptos"/>
              </a:rPr>
              <a:t>семьи</a:t>
            </a:r>
            <a:r>
              <a:rPr sz="1280" b="1" dirty="0">
                <a:solidFill>
                  <a:srgbClr val="169A3F"/>
                </a:solidFill>
                <a:latin typeface="Aptos"/>
              </a:rPr>
              <a:t>, </a:t>
            </a:r>
            <a:r>
              <a:rPr sz="1280" b="1" dirty="0" err="1">
                <a:solidFill>
                  <a:srgbClr val="169A3F"/>
                </a:solidFill>
                <a:latin typeface="Aptos"/>
              </a:rPr>
              <a:t>квесты</a:t>
            </a:r>
            <a:r>
              <a:rPr sz="1280" b="1" dirty="0">
                <a:solidFill>
                  <a:srgbClr val="169A3F"/>
                </a:solidFill>
                <a:latin typeface="Aptos"/>
              </a:rPr>
              <a:t>, </a:t>
            </a:r>
            <a:r>
              <a:rPr sz="1280" b="1" dirty="0" err="1">
                <a:solidFill>
                  <a:srgbClr val="169A3F"/>
                </a:solidFill>
                <a:latin typeface="Aptos"/>
              </a:rPr>
              <a:t>события</a:t>
            </a:r>
            <a:r>
              <a:rPr sz="1280" b="1" dirty="0">
                <a:solidFill>
                  <a:srgbClr val="169A3F"/>
                </a:solidFill>
                <a:latin typeface="Aptos"/>
              </a:rPr>
              <a:t>, </a:t>
            </a:r>
            <a:r>
              <a:rPr sz="1280" b="1" dirty="0" err="1">
                <a:solidFill>
                  <a:srgbClr val="169A3F"/>
                </a:solidFill>
                <a:latin typeface="Aptos"/>
              </a:rPr>
              <a:t>агрегаты</a:t>
            </a:r>
            <a:endParaRPr sz="1280" b="1" dirty="0">
              <a:solidFill>
                <a:srgbClr val="169A3F"/>
              </a:solidFill>
              <a:latin typeface="Aptos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658368" y="4005072"/>
            <a:ext cx="2743200" cy="621792"/>
          </a:xfrm>
          <a:prstGeom prst="rect">
            <a:avLst/>
          </a:prstGeom>
          <a:solidFill>
            <a:srgbClr val="F0EEE6"/>
          </a:solidFill>
          <a:ln w="12700">
            <a:solidFill>
              <a:srgbClr val="DCDA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95528" y="4142232"/>
            <a:ext cx="2468880" cy="32004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80" b="1">
                <a:solidFill>
                  <a:srgbClr val="192734"/>
                </a:solidFill>
                <a:latin typeface="Aptos"/>
              </a:rPr>
              <a:t>Интерфейс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401568" y="4005072"/>
            <a:ext cx="3154680" cy="621792"/>
          </a:xfrm>
          <a:prstGeom prst="rect">
            <a:avLst/>
          </a:prstGeom>
          <a:solidFill>
            <a:srgbClr val="F0EEE6"/>
          </a:solidFill>
          <a:ln w="12700">
            <a:solidFill>
              <a:srgbClr val="DCDA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538728" y="4176063"/>
            <a:ext cx="2880360" cy="252377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80" b="0" dirty="0" err="1">
                <a:solidFill>
                  <a:schemeClr val="accent2">
                    <a:lumMod val="75000"/>
                  </a:schemeClr>
                </a:solidFill>
                <a:latin typeface="Aptos"/>
              </a:rPr>
              <a:t>Функциональный</a:t>
            </a:r>
            <a:r>
              <a:rPr sz="1280" b="0" dirty="0">
                <a:solidFill>
                  <a:schemeClr val="accent2">
                    <a:lumMod val="75000"/>
                  </a:schemeClr>
                </a:solidFill>
                <a:latin typeface="Aptos"/>
              </a:rPr>
              <a:t> MVP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56248" y="4005072"/>
            <a:ext cx="4892040" cy="621792"/>
          </a:xfrm>
          <a:prstGeom prst="rect">
            <a:avLst/>
          </a:prstGeom>
          <a:solidFill>
            <a:srgbClr val="F0EEE6"/>
          </a:solidFill>
          <a:ln w="12700">
            <a:solidFill>
              <a:srgbClr val="DCDA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693408" y="4176063"/>
            <a:ext cx="4617720" cy="252377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80" b="1" dirty="0" err="1">
                <a:solidFill>
                  <a:srgbClr val="169A3F"/>
                </a:solidFill>
                <a:latin typeface="Aptos"/>
              </a:rPr>
              <a:t>Адаптивная</a:t>
            </a:r>
            <a:r>
              <a:rPr sz="1280" b="1" dirty="0">
                <a:solidFill>
                  <a:srgbClr val="169A3F"/>
                </a:solidFill>
                <a:latin typeface="Aptos"/>
              </a:rPr>
              <a:t> </a:t>
            </a:r>
            <a:r>
              <a:rPr sz="1280" b="1" dirty="0" err="1">
                <a:solidFill>
                  <a:srgbClr val="169A3F"/>
                </a:solidFill>
                <a:latin typeface="Aptos"/>
              </a:rPr>
              <a:t>карта</a:t>
            </a:r>
            <a:r>
              <a:rPr sz="1280" b="1" dirty="0">
                <a:solidFill>
                  <a:srgbClr val="169A3F"/>
                </a:solidFill>
                <a:latin typeface="Aptos"/>
              </a:rPr>
              <a:t>, </a:t>
            </a:r>
            <a:r>
              <a:rPr sz="1280" b="1" dirty="0" err="1">
                <a:solidFill>
                  <a:srgbClr val="169A3F"/>
                </a:solidFill>
                <a:latin typeface="Aptos"/>
              </a:rPr>
              <a:t>доска</a:t>
            </a:r>
            <a:r>
              <a:rPr sz="1280" b="1" dirty="0">
                <a:solidFill>
                  <a:srgbClr val="169A3F"/>
                </a:solidFill>
                <a:latin typeface="Aptos"/>
              </a:rPr>
              <a:t>, HUD и </a:t>
            </a:r>
            <a:r>
              <a:rPr sz="1280" b="1" dirty="0" err="1">
                <a:solidFill>
                  <a:srgbClr val="169A3F"/>
                </a:solidFill>
                <a:latin typeface="Aptos"/>
              </a:rPr>
              <a:t>графика</a:t>
            </a:r>
            <a:endParaRPr sz="1280" b="1" dirty="0">
              <a:solidFill>
                <a:srgbClr val="169A3F"/>
              </a:solidFill>
              <a:latin typeface="Aptos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658368" y="4626864"/>
            <a:ext cx="2743200" cy="621792"/>
          </a:xfrm>
          <a:prstGeom prst="rect">
            <a:avLst/>
          </a:prstGeom>
          <a:solidFill>
            <a:srgbClr val="FFFDF8"/>
          </a:solidFill>
          <a:ln w="12700">
            <a:solidFill>
              <a:srgbClr val="DCDA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95528" y="4764024"/>
            <a:ext cx="2468880" cy="32004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80" b="1">
                <a:solidFill>
                  <a:srgbClr val="192734"/>
                </a:solidFill>
                <a:latin typeface="Aptos"/>
              </a:rPr>
              <a:t>Аналитика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401568" y="4626864"/>
            <a:ext cx="3154680" cy="621792"/>
          </a:xfrm>
          <a:prstGeom prst="rect">
            <a:avLst/>
          </a:prstGeom>
          <a:solidFill>
            <a:srgbClr val="FFFDF8"/>
          </a:solidFill>
          <a:ln w="12700">
            <a:solidFill>
              <a:srgbClr val="DCDA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538728" y="4797855"/>
            <a:ext cx="2880360" cy="252377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80" b="0" dirty="0" err="1">
                <a:solidFill>
                  <a:schemeClr val="accent2">
                    <a:lumMod val="75000"/>
                  </a:schemeClr>
                </a:solidFill>
                <a:latin typeface="Aptos"/>
              </a:rPr>
              <a:t>Отсутствовала</a:t>
            </a:r>
            <a:endParaRPr sz="1280" b="0" dirty="0">
              <a:solidFill>
                <a:schemeClr val="accent2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6556248" y="4626864"/>
            <a:ext cx="4892040" cy="621792"/>
          </a:xfrm>
          <a:prstGeom prst="rect">
            <a:avLst/>
          </a:prstGeom>
          <a:solidFill>
            <a:srgbClr val="FFFDF8"/>
          </a:solidFill>
          <a:ln w="12700">
            <a:solidFill>
              <a:srgbClr val="DCDA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693408" y="4797855"/>
            <a:ext cx="4617720" cy="252377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80" b="1" dirty="0" err="1">
                <a:solidFill>
                  <a:srgbClr val="169A3F"/>
                </a:solidFill>
                <a:latin typeface="Aptos"/>
              </a:rPr>
              <a:t>Дневные</a:t>
            </a:r>
            <a:r>
              <a:rPr sz="1280" b="1" dirty="0">
                <a:solidFill>
                  <a:srgbClr val="169A3F"/>
                </a:solidFill>
                <a:latin typeface="Aptos"/>
              </a:rPr>
              <a:t> и </a:t>
            </a:r>
            <a:r>
              <a:rPr sz="1280" b="1" dirty="0" err="1">
                <a:solidFill>
                  <a:srgbClr val="169A3F"/>
                </a:solidFill>
                <a:latin typeface="Aptos"/>
              </a:rPr>
              <a:t>категориальные</a:t>
            </a:r>
            <a:r>
              <a:rPr sz="1280" b="1" dirty="0">
                <a:solidFill>
                  <a:srgbClr val="169A3F"/>
                </a:solidFill>
                <a:latin typeface="Aptos"/>
              </a:rPr>
              <a:t> </a:t>
            </a:r>
            <a:r>
              <a:rPr sz="1280" b="1" dirty="0" err="1">
                <a:solidFill>
                  <a:srgbClr val="169A3F"/>
                </a:solidFill>
                <a:latin typeface="Aptos"/>
              </a:rPr>
              <a:t>показатели</a:t>
            </a:r>
            <a:endParaRPr sz="1280" b="1" dirty="0">
              <a:solidFill>
                <a:srgbClr val="169A3F"/>
              </a:solidFill>
              <a:latin typeface="Aptos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658368" y="5248656"/>
            <a:ext cx="2743200" cy="621792"/>
          </a:xfrm>
          <a:prstGeom prst="rect">
            <a:avLst/>
          </a:prstGeom>
          <a:solidFill>
            <a:srgbClr val="F0EEE6"/>
          </a:solidFill>
          <a:ln w="12700">
            <a:solidFill>
              <a:srgbClr val="DCDA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95528" y="5385816"/>
            <a:ext cx="2468880" cy="32004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80" b="1">
                <a:solidFill>
                  <a:srgbClr val="192734"/>
                </a:solidFill>
                <a:latin typeface="Aptos"/>
              </a:rPr>
              <a:t>Рекомендации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401568" y="5248656"/>
            <a:ext cx="3154680" cy="621792"/>
          </a:xfrm>
          <a:prstGeom prst="rect">
            <a:avLst/>
          </a:prstGeom>
          <a:solidFill>
            <a:srgbClr val="F0EEE6"/>
          </a:solidFill>
          <a:ln w="12700">
            <a:solidFill>
              <a:srgbClr val="DCDA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538728" y="5419647"/>
            <a:ext cx="2880360" cy="252377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80" b="0" dirty="0" err="1">
                <a:solidFill>
                  <a:schemeClr val="accent2">
                    <a:lumMod val="75000"/>
                  </a:schemeClr>
                </a:solidFill>
                <a:latin typeface="Aptos"/>
              </a:rPr>
              <a:t>Отсутствовали</a:t>
            </a:r>
            <a:endParaRPr sz="1280" b="0" dirty="0">
              <a:solidFill>
                <a:schemeClr val="accent2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6556248" y="5248656"/>
            <a:ext cx="4892040" cy="621792"/>
          </a:xfrm>
          <a:prstGeom prst="rect">
            <a:avLst/>
          </a:prstGeom>
          <a:solidFill>
            <a:srgbClr val="F0EEE6"/>
          </a:solidFill>
          <a:ln w="12700">
            <a:solidFill>
              <a:srgbClr val="DCDA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693408" y="5419647"/>
            <a:ext cx="4617720" cy="252377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80" b="1" dirty="0" err="1">
                <a:solidFill>
                  <a:srgbClr val="169A3F"/>
                </a:solidFill>
                <a:latin typeface="Aptos"/>
              </a:rPr>
              <a:t>Объяснимый</a:t>
            </a:r>
            <a:r>
              <a:rPr sz="1280" b="1" dirty="0">
                <a:solidFill>
                  <a:srgbClr val="169A3F"/>
                </a:solidFill>
                <a:latin typeface="Aptos"/>
              </a:rPr>
              <a:t> expert-v1 и </a:t>
            </a:r>
            <a:r>
              <a:rPr sz="1280" b="1" dirty="0" err="1">
                <a:solidFill>
                  <a:srgbClr val="169A3F"/>
                </a:solidFill>
                <a:latin typeface="Aptos"/>
              </a:rPr>
              <a:t>настройка</a:t>
            </a:r>
            <a:r>
              <a:rPr sz="1280" b="1" dirty="0">
                <a:solidFill>
                  <a:srgbClr val="169A3F"/>
                </a:solidFill>
                <a:latin typeface="Aptos"/>
              </a:rPr>
              <a:t> </a:t>
            </a:r>
            <a:r>
              <a:rPr sz="1280" b="1" dirty="0" err="1">
                <a:solidFill>
                  <a:srgbClr val="169A3F"/>
                </a:solidFill>
                <a:latin typeface="Aptos"/>
              </a:rPr>
              <a:t>наград</a:t>
            </a:r>
            <a:endParaRPr sz="1280" b="1" dirty="0">
              <a:solidFill>
                <a:srgbClr val="169A3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guild_hall_interior.png"/>
          <p:cNvPicPr>
            <a:picLocks noChangeAspect="1"/>
          </p:cNvPicPr>
          <p:nvPr/>
        </p:nvPicPr>
        <p:blipFill>
          <a:blip r:embed="rId2"/>
          <a:srcRect t="21874" b="21874"/>
          <a:stretch>
            <a:fillRect/>
          </a:stretch>
        </p:blipFill>
        <p:spPr>
          <a:xfrm>
            <a:off x="0" y="0"/>
            <a:ext cx="1227582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15799" cy="6858000"/>
          </a:xfrm>
          <a:prstGeom prst="rect">
            <a:avLst/>
          </a:prstGeom>
          <a:solidFill>
            <a:srgbClr val="192734">
              <a:alpha val="70000"/>
            </a:srgbClr>
          </a:solidFill>
          <a:ln w="12700">
            <a:solidFill>
              <a:srgbClr val="1927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658368"/>
            <a:ext cx="2926080" cy="48628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ru-RU" sz="2800" b="1" dirty="0">
                <a:solidFill>
                  <a:srgbClr val="FFFFFF"/>
                </a:solidFill>
                <a:latin typeface="Montserrat Black" panose="00000A00000000000000" pitchFamily="2" charset="-52"/>
              </a:rPr>
              <a:t>ВЫВОДЫ</a:t>
            </a:r>
            <a:endParaRPr sz="2800" b="1" dirty="0">
              <a:solidFill>
                <a:srgbClr val="FFFFFF"/>
              </a:solidFill>
              <a:latin typeface="Montserrat Black" panose="00000A00000000000000" pitchFamily="2" charset="-5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1237831"/>
            <a:ext cx="960120" cy="64008"/>
          </a:xfrm>
          <a:prstGeom prst="rect">
            <a:avLst/>
          </a:prstGeom>
          <a:solidFill>
            <a:srgbClr val="CC8F25"/>
          </a:solidFill>
          <a:ln w="12700">
            <a:solidFill>
              <a:srgbClr val="CC8F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7173" y="1983309"/>
            <a:ext cx="6499333" cy="317009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200" dirty="0">
                <a:solidFill>
                  <a:srgbClr val="CC8F25"/>
                </a:solidFill>
                <a:latin typeface="Aptos"/>
              </a:rPr>
              <a:t>●  </a:t>
            </a:r>
            <a:r>
              <a:rPr sz="1600" dirty="0">
                <a:solidFill>
                  <a:srgbClr val="FFFFFF"/>
                </a:solidFill>
                <a:latin typeface="Aptos"/>
              </a:rPr>
              <a:t>Unity-</a:t>
            </a:r>
            <a:r>
              <a:rPr sz="1600" dirty="0" err="1">
                <a:solidFill>
                  <a:srgbClr val="FFFFFF"/>
                </a:solidFill>
                <a:latin typeface="Aptos"/>
              </a:rPr>
              <a:t>прототип</a:t>
            </a:r>
            <a:r>
              <a:rPr sz="1600" dirty="0">
                <a:solidFill>
                  <a:srgbClr val="FFFFFF"/>
                </a:solidFill>
                <a:latin typeface="Aptos"/>
              </a:rPr>
              <a:t> </a:t>
            </a:r>
            <a:r>
              <a:rPr sz="1600" dirty="0" err="1">
                <a:solidFill>
                  <a:srgbClr val="FFFFFF"/>
                </a:solidFill>
                <a:latin typeface="Aptos"/>
              </a:rPr>
              <a:t>преобразован</a:t>
            </a:r>
            <a:r>
              <a:rPr sz="1600" dirty="0">
                <a:solidFill>
                  <a:srgbClr val="FFFFFF"/>
                </a:solidFill>
                <a:latin typeface="Aptos"/>
              </a:rPr>
              <a:t> в </a:t>
            </a:r>
            <a:r>
              <a:rPr sz="1600" dirty="0" err="1">
                <a:solidFill>
                  <a:srgbClr val="FFFFFF"/>
                </a:solidFill>
                <a:latin typeface="Aptos"/>
              </a:rPr>
              <a:t>распределенную</a:t>
            </a:r>
            <a:r>
              <a:rPr sz="1600" dirty="0">
                <a:solidFill>
                  <a:srgbClr val="FFFFFF"/>
                </a:solidFill>
                <a:latin typeface="Aptos"/>
              </a:rPr>
              <a:t> </a:t>
            </a:r>
            <a:r>
              <a:rPr sz="1600" dirty="0" err="1">
                <a:solidFill>
                  <a:srgbClr val="FFFFFF"/>
                </a:solidFill>
                <a:latin typeface="Aptos"/>
              </a:rPr>
              <a:t>клиент-серверную</a:t>
            </a:r>
            <a:r>
              <a:rPr sz="1600" dirty="0">
                <a:solidFill>
                  <a:srgbClr val="FFFFFF"/>
                </a:solidFill>
                <a:latin typeface="Aptos"/>
              </a:rPr>
              <a:t> </a:t>
            </a:r>
            <a:r>
              <a:rPr sz="1600" dirty="0" err="1">
                <a:solidFill>
                  <a:srgbClr val="FFFFFF"/>
                </a:solidFill>
                <a:latin typeface="Aptos"/>
              </a:rPr>
              <a:t>систему</a:t>
            </a:r>
            <a:r>
              <a:rPr sz="1600" dirty="0">
                <a:solidFill>
                  <a:srgbClr val="FFFFFF"/>
                </a:solidFill>
                <a:latin typeface="Aptos"/>
              </a:rPr>
              <a:t>.</a:t>
            </a:r>
          </a:p>
          <a:p>
            <a:pPr algn="l">
              <a:spcAft>
                <a:spcPts val="1200"/>
              </a:spcAft>
            </a:pPr>
            <a:r>
              <a:rPr sz="1200" dirty="0">
                <a:solidFill>
                  <a:srgbClr val="CC8F25"/>
                </a:solidFill>
                <a:latin typeface="Aptos"/>
              </a:rPr>
              <a:t>●  </a:t>
            </a:r>
            <a:r>
              <a:rPr sz="1600" dirty="0" err="1">
                <a:solidFill>
                  <a:srgbClr val="FFFFFF"/>
                </a:solidFill>
                <a:latin typeface="Aptos"/>
              </a:rPr>
              <a:t>Реализовано</a:t>
            </a:r>
            <a:r>
              <a:rPr sz="1600" dirty="0">
                <a:solidFill>
                  <a:srgbClr val="FFFFFF"/>
                </a:solidFill>
                <a:latin typeface="Aptos"/>
              </a:rPr>
              <a:t> </a:t>
            </a:r>
            <a:r>
              <a:rPr sz="1600" dirty="0" err="1">
                <a:solidFill>
                  <a:srgbClr val="FFFFFF"/>
                </a:solidFill>
                <a:latin typeface="Aptos"/>
              </a:rPr>
              <a:t>взаимодействие</a:t>
            </a:r>
            <a:r>
              <a:rPr sz="1600" dirty="0">
                <a:solidFill>
                  <a:srgbClr val="FFFFFF"/>
                </a:solidFill>
                <a:latin typeface="Aptos"/>
              </a:rPr>
              <a:t> </a:t>
            </a:r>
            <a:r>
              <a:rPr sz="1600" dirty="0" err="1">
                <a:solidFill>
                  <a:srgbClr val="FFFFFF"/>
                </a:solidFill>
                <a:latin typeface="Aptos"/>
              </a:rPr>
              <a:t>ребенка</a:t>
            </a:r>
            <a:r>
              <a:rPr sz="1600" dirty="0">
                <a:solidFill>
                  <a:srgbClr val="FFFFFF"/>
                </a:solidFill>
                <a:latin typeface="Aptos"/>
              </a:rPr>
              <a:t> и </a:t>
            </a:r>
            <a:r>
              <a:rPr sz="1600" dirty="0" err="1">
                <a:solidFill>
                  <a:srgbClr val="FFFFFF"/>
                </a:solidFill>
                <a:latin typeface="Aptos"/>
              </a:rPr>
              <a:t>родителя</a:t>
            </a:r>
            <a:r>
              <a:rPr sz="1600" dirty="0">
                <a:solidFill>
                  <a:srgbClr val="FFFFFF"/>
                </a:solidFill>
                <a:latin typeface="Aptos"/>
              </a:rPr>
              <a:t> </a:t>
            </a:r>
            <a:r>
              <a:rPr sz="1600" dirty="0" err="1">
                <a:solidFill>
                  <a:srgbClr val="FFFFFF"/>
                </a:solidFill>
                <a:latin typeface="Aptos"/>
              </a:rPr>
              <a:t>через</a:t>
            </a:r>
            <a:r>
              <a:rPr sz="1600" dirty="0">
                <a:solidFill>
                  <a:srgbClr val="FFFFFF"/>
                </a:solidFill>
                <a:latin typeface="Aptos"/>
              </a:rPr>
              <a:t> </a:t>
            </a:r>
            <a:r>
              <a:rPr sz="1600" dirty="0" err="1">
                <a:solidFill>
                  <a:srgbClr val="FFFFFF"/>
                </a:solidFill>
                <a:latin typeface="Aptos"/>
              </a:rPr>
              <a:t>общий</a:t>
            </a:r>
            <a:r>
              <a:rPr sz="1600" dirty="0">
                <a:solidFill>
                  <a:srgbClr val="FFFFFF"/>
                </a:solidFill>
                <a:latin typeface="Aptos"/>
              </a:rPr>
              <a:t> </a:t>
            </a:r>
            <a:r>
              <a:rPr sz="1600" dirty="0" err="1">
                <a:solidFill>
                  <a:srgbClr val="FFFFFF"/>
                </a:solidFill>
                <a:latin typeface="Aptos"/>
              </a:rPr>
              <a:t>жизненный</a:t>
            </a:r>
            <a:r>
              <a:rPr sz="1600" dirty="0">
                <a:solidFill>
                  <a:srgbClr val="FFFFFF"/>
                </a:solidFill>
                <a:latin typeface="Aptos"/>
              </a:rPr>
              <a:t> </a:t>
            </a:r>
            <a:r>
              <a:rPr sz="1600" dirty="0" err="1">
                <a:solidFill>
                  <a:srgbClr val="FFFFFF"/>
                </a:solidFill>
                <a:latin typeface="Aptos"/>
              </a:rPr>
              <a:t>цикл</a:t>
            </a:r>
            <a:r>
              <a:rPr sz="1600" dirty="0">
                <a:solidFill>
                  <a:srgbClr val="FFFFFF"/>
                </a:solidFill>
                <a:latin typeface="Aptos"/>
              </a:rPr>
              <a:t> </a:t>
            </a:r>
            <a:r>
              <a:rPr sz="1600" dirty="0" err="1">
                <a:solidFill>
                  <a:srgbClr val="FFFFFF"/>
                </a:solidFill>
                <a:latin typeface="Aptos"/>
              </a:rPr>
              <a:t>квеста</a:t>
            </a:r>
            <a:r>
              <a:rPr sz="1600" dirty="0">
                <a:solidFill>
                  <a:srgbClr val="FFFFFF"/>
                </a:solidFill>
                <a:latin typeface="Aptos"/>
              </a:rPr>
              <a:t>.</a:t>
            </a:r>
          </a:p>
          <a:p>
            <a:pPr algn="l">
              <a:spcAft>
                <a:spcPts val="1200"/>
              </a:spcAft>
            </a:pPr>
            <a:r>
              <a:rPr sz="1200" dirty="0">
                <a:solidFill>
                  <a:srgbClr val="CC8F25"/>
                </a:solidFill>
                <a:latin typeface="Aptos"/>
              </a:rPr>
              <a:t>●  </a:t>
            </a:r>
            <a:r>
              <a:rPr sz="1600" dirty="0" err="1">
                <a:solidFill>
                  <a:srgbClr val="FFFFFF"/>
                </a:solidFill>
                <a:latin typeface="Aptos"/>
              </a:rPr>
              <a:t>Firestore</a:t>
            </a:r>
            <a:r>
              <a:rPr sz="1600" dirty="0">
                <a:solidFill>
                  <a:srgbClr val="FFFFFF"/>
                </a:solidFill>
                <a:latin typeface="Aptos"/>
              </a:rPr>
              <a:t> </a:t>
            </a:r>
            <a:r>
              <a:rPr sz="1600" dirty="0" err="1">
                <a:solidFill>
                  <a:srgbClr val="FFFFFF"/>
                </a:solidFill>
                <a:latin typeface="Aptos"/>
              </a:rPr>
              <a:t>расширен</a:t>
            </a:r>
            <a:r>
              <a:rPr sz="1600" dirty="0">
                <a:solidFill>
                  <a:srgbClr val="FFFFFF"/>
                </a:solidFill>
                <a:latin typeface="Aptos"/>
              </a:rPr>
              <a:t> </a:t>
            </a:r>
            <a:r>
              <a:rPr sz="1600" dirty="0" err="1">
                <a:solidFill>
                  <a:srgbClr val="FFFFFF"/>
                </a:solidFill>
                <a:latin typeface="Aptos"/>
              </a:rPr>
              <a:t>событиями</a:t>
            </a:r>
            <a:r>
              <a:rPr sz="1600" dirty="0">
                <a:solidFill>
                  <a:srgbClr val="FFFFFF"/>
                </a:solidFill>
                <a:latin typeface="Aptos"/>
              </a:rPr>
              <a:t>, </a:t>
            </a:r>
            <a:r>
              <a:rPr sz="1600" dirty="0" err="1">
                <a:solidFill>
                  <a:srgbClr val="FFFFFF"/>
                </a:solidFill>
                <a:latin typeface="Aptos"/>
              </a:rPr>
              <a:t>агрегатами</a:t>
            </a:r>
            <a:r>
              <a:rPr sz="1600" dirty="0">
                <a:solidFill>
                  <a:srgbClr val="FFFFFF"/>
                </a:solidFill>
                <a:latin typeface="Aptos"/>
              </a:rPr>
              <a:t> и </a:t>
            </a:r>
            <a:r>
              <a:rPr sz="1600" dirty="0" err="1">
                <a:solidFill>
                  <a:srgbClr val="FFFFFF"/>
                </a:solidFill>
                <a:latin typeface="Aptos"/>
              </a:rPr>
              <a:t>рекомендациями</a:t>
            </a:r>
            <a:r>
              <a:rPr sz="1600" dirty="0">
                <a:solidFill>
                  <a:srgbClr val="FFFFFF"/>
                </a:solidFill>
                <a:latin typeface="Aptos"/>
              </a:rPr>
              <a:t> </a:t>
            </a:r>
            <a:r>
              <a:rPr sz="1600" dirty="0" err="1">
                <a:solidFill>
                  <a:srgbClr val="FFFFFF"/>
                </a:solidFill>
                <a:latin typeface="Aptos"/>
              </a:rPr>
              <a:t>без</a:t>
            </a:r>
            <a:r>
              <a:rPr sz="1600" dirty="0">
                <a:solidFill>
                  <a:srgbClr val="FFFFFF"/>
                </a:solidFill>
                <a:latin typeface="Aptos"/>
              </a:rPr>
              <a:t> </a:t>
            </a:r>
            <a:r>
              <a:rPr sz="1600" dirty="0" err="1">
                <a:solidFill>
                  <a:srgbClr val="FFFFFF"/>
                </a:solidFill>
                <a:latin typeface="Aptos"/>
              </a:rPr>
              <a:t>разрушения</a:t>
            </a:r>
            <a:r>
              <a:rPr sz="1600" dirty="0">
                <a:solidFill>
                  <a:srgbClr val="FFFFFF"/>
                </a:solidFill>
                <a:latin typeface="Aptos"/>
              </a:rPr>
              <a:t> </a:t>
            </a:r>
            <a:r>
              <a:rPr sz="1600" dirty="0" err="1">
                <a:solidFill>
                  <a:srgbClr val="FFFFFF"/>
                </a:solidFill>
                <a:latin typeface="Aptos"/>
              </a:rPr>
              <a:t>базовой</a:t>
            </a:r>
            <a:r>
              <a:rPr sz="1600" dirty="0">
                <a:solidFill>
                  <a:srgbClr val="FFFFFF"/>
                </a:solidFill>
                <a:latin typeface="Aptos"/>
              </a:rPr>
              <a:t> </a:t>
            </a:r>
            <a:r>
              <a:rPr sz="1600" dirty="0" err="1">
                <a:solidFill>
                  <a:srgbClr val="FFFFFF"/>
                </a:solidFill>
                <a:latin typeface="Aptos"/>
              </a:rPr>
              <a:t>модели</a:t>
            </a:r>
            <a:r>
              <a:rPr sz="1600" dirty="0">
                <a:solidFill>
                  <a:srgbClr val="FFFFFF"/>
                </a:solidFill>
                <a:latin typeface="Aptos"/>
              </a:rPr>
              <a:t>.</a:t>
            </a:r>
          </a:p>
          <a:p>
            <a:pPr algn="l">
              <a:spcAft>
                <a:spcPts val="1200"/>
              </a:spcAft>
            </a:pPr>
            <a:r>
              <a:rPr sz="1200" dirty="0">
                <a:solidFill>
                  <a:srgbClr val="CC8F25"/>
                </a:solidFill>
                <a:latin typeface="Aptos"/>
              </a:rPr>
              <a:t>●  </a:t>
            </a:r>
            <a:r>
              <a:rPr sz="1600" dirty="0" err="1">
                <a:solidFill>
                  <a:srgbClr val="FFFFFF"/>
                </a:solidFill>
                <a:latin typeface="Aptos"/>
              </a:rPr>
              <a:t>Экспертная</a:t>
            </a:r>
            <a:r>
              <a:rPr sz="1600" dirty="0">
                <a:solidFill>
                  <a:srgbClr val="FFFFFF"/>
                </a:solidFill>
                <a:latin typeface="Aptos"/>
              </a:rPr>
              <a:t> </a:t>
            </a:r>
            <a:r>
              <a:rPr sz="1600" dirty="0" err="1">
                <a:solidFill>
                  <a:srgbClr val="FFFFFF"/>
                </a:solidFill>
                <a:latin typeface="Aptos"/>
              </a:rPr>
              <a:t>система</a:t>
            </a:r>
            <a:r>
              <a:rPr sz="1600" dirty="0">
                <a:solidFill>
                  <a:srgbClr val="FFFFFF"/>
                </a:solidFill>
                <a:latin typeface="Aptos"/>
              </a:rPr>
              <a:t> </a:t>
            </a:r>
            <a:r>
              <a:rPr sz="1600" dirty="0" err="1">
                <a:solidFill>
                  <a:srgbClr val="FFFFFF"/>
                </a:solidFill>
                <a:latin typeface="Aptos"/>
              </a:rPr>
              <a:t>формирует</a:t>
            </a:r>
            <a:r>
              <a:rPr sz="1600" dirty="0">
                <a:solidFill>
                  <a:srgbClr val="FFFFFF"/>
                </a:solidFill>
                <a:latin typeface="Aptos"/>
              </a:rPr>
              <a:t> </a:t>
            </a:r>
            <a:r>
              <a:rPr sz="1600" dirty="0" err="1">
                <a:solidFill>
                  <a:srgbClr val="FFFFFF"/>
                </a:solidFill>
                <a:latin typeface="Aptos"/>
              </a:rPr>
              <a:t>объяснимые</a:t>
            </a:r>
            <a:r>
              <a:rPr sz="1600" dirty="0">
                <a:solidFill>
                  <a:srgbClr val="FFFFFF"/>
                </a:solidFill>
                <a:latin typeface="Aptos"/>
              </a:rPr>
              <a:t> </a:t>
            </a:r>
            <a:r>
              <a:rPr sz="1600" dirty="0" err="1">
                <a:solidFill>
                  <a:srgbClr val="FFFFFF"/>
                </a:solidFill>
                <a:latin typeface="Aptos"/>
              </a:rPr>
              <a:t>советы</a:t>
            </a:r>
            <a:r>
              <a:rPr sz="1600" dirty="0">
                <a:solidFill>
                  <a:srgbClr val="FFFFFF"/>
                </a:solidFill>
                <a:latin typeface="Aptos"/>
              </a:rPr>
              <a:t> </a:t>
            </a:r>
            <a:r>
              <a:rPr sz="1600" dirty="0" err="1">
                <a:solidFill>
                  <a:srgbClr val="FFFFFF"/>
                </a:solidFill>
                <a:latin typeface="Aptos"/>
              </a:rPr>
              <a:t>по</a:t>
            </a:r>
            <a:r>
              <a:rPr sz="1600" dirty="0">
                <a:solidFill>
                  <a:srgbClr val="FFFFFF"/>
                </a:solidFill>
                <a:latin typeface="Aptos"/>
              </a:rPr>
              <a:t> </a:t>
            </a:r>
            <a:r>
              <a:rPr sz="1600" dirty="0" err="1">
                <a:solidFill>
                  <a:srgbClr val="FFFFFF"/>
                </a:solidFill>
                <a:latin typeface="Aptos"/>
              </a:rPr>
              <a:t>категории</a:t>
            </a:r>
            <a:r>
              <a:rPr sz="1600" dirty="0">
                <a:solidFill>
                  <a:srgbClr val="FFFFFF"/>
                </a:solidFill>
                <a:latin typeface="Aptos"/>
              </a:rPr>
              <a:t>, </a:t>
            </a:r>
            <a:r>
              <a:rPr sz="1600" dirty="0" err="1">
                <a:solidFill>
                  <a:srgbClr val="FFFFFF"/>
                </a:solidFill>
                <a:latin typeface="Aptos"/>
              </a:rPr>
              <a:t>сложности</a:t>
            </a:r>
            <a:r>
              <a:rPr sz="1600" dirty="0">
                <a:solidFill>
                  <a:srgbClr val="FFFFFF"/>
                </a:solidFill>
                <a:latin typeface="Aptos"/>
              </a:rPr>
              <a:t> и </a:t>
            </a:r>
            <a:r>
              <a:rPr sz="1600" dirty="0" err="1">
                <a:solidFill>
                  <a:srgbClr val="FFFFFF"/>
                </a:solidFill>
                <a:latin typeface="Aptos"/>
              </a:rPr>
              <a:t>награде</a:t>
            </a:r>
            <a:r>
              <a:rPr sz="1600" dirty="0">
                <a:solidFill>
                  <a:srgbClr val="FFFFFF"/>
                </a:solidFill>
                <a:latin typeface="Aptos"/>
              </a:rPr>
              <a:t>.</a:t>
            </a:r>
          </a:p>
          <a:p>
            <a:pPr algn="l">
              <a:spcAft>
                <a:spcPts val="1200"/>
              </a:spcAft>
            </a:pPr>
            <a:r>
              <a:rPr sz="1200" dirty="0">
                <a:solidFill>
                  <a:srgbClr val="CC8F25"/>
                </a:solidFill>
                <a:latin typeface="Aptos"/>
              </a:rPr>
              <a:t>●  </a:t>
            </a:r>
            <a:r>
              <a:rPr sz="1600" dirty="0" err="1">
                <a:solidFill>
                  <a:srgbClr val="FFFFFF"/>
                </a:solidFill>
                <a:latin typeface="Aptos"/>
              </a:rPr>
              <a:t>Архитектура</a:t>
            </a:r>
            <a:r>
              <a:rPr sz="1600" dirty="0">
                <a:solidFill>
                  <a:srgbClr val="FFFFFF"/>
                </a:solidFill>
                <a:latin typeface="Aptos"/>
              </a:rPr>
              <a:t> </a:t>
            </a:r>
            <a:r>
              <a:rPr sz="1600" dirty="0" err="1">
                <a:solidFill>
                  <a:srgbClr val="FFFFFF"/>
                </a:solidFill>
                <a:latin typeface="Aptos"/>
              </a:rPr>
              <a:t>допускает</a:t>
            </a:r>
            <a:r>
              <a:rPr sz="1600" dirty="0">
                <a:solidFill>
                  <a:srgbClr val="FFFFFF"/>
                </a:solidFill>
                <a:latin typeface="Aptos"/>
              </a:rPr>
              <a:t> </a:t>
            </a:r>
            <a:r>
              <a:rPr sz="1600" dirty="0" err="1">
                <a:solidFill>
                  <a:srgbClr val="FFFFFF"/>
                </a:solidFill>
                <a:latin typeface="Aptos"/>
              </a:rPr>
              <a:t>дальнейшее</a:t>
            </a:r>
            <a:r>
              <a:rPr sz="1600" dirty="0">
                <a:solidFill>
                  <a:srgbClr val="FFFFFF"/>
                </a:solidFill>
                <a:latin typeface="Aptos"/>
              </a:rPr>
              <a:t> </a:t>
            </a:r>
            <a:r>
              <a:rPr sz="1600" dirty="0" err="1">
                <a:solidFill>
                  <a:srgbClr val="FFFFFF"/>
                </a:solidFill>
                <a:latin typeface="Aptos"/>
              </a:rPr>
              <a:t>развитие</a:t>
            </a:r>
            <a:r>
              <a:rPr sz="1600" dirty="0">
                <a:solidFill>
                  <a:srgbClr val="FFFFFF"/>
                </a:solidFill>
                <a:latin typeface="Aptos"/>
              </a:rPr>
              <a:t>: </a:t>
            </a:r>
            <a:r>
              <a:rPr sz="1600" dirty="0" err="1">
                <a:solidFill>
                  <a:srgbClr val="FFFFFF"/>
                </a:solidFill>
                <a:latin typeface="Aptos"/>
              </a:rPr>
              <a:t>геолокация</a:t>
            </a:r>
            <a:r>
              <a:rPr sz="1600" dirty="0">
                <a:solidFill>
                  <a:srgbClr val="FFFFFF"/>
                </a:solidFill>
                <a:latin typeface="Aptos"/>
              </a:rPr>
              <a:t>, </a:t>
            </a:r>
            <a:r>
              <a:rPr sz="1600" dirty="0" err="1">
                <a:solidFill>
                  <a:srgbClr val="FFFFFF"/>
                </a:solidFill>
                <a:latin typeface="Aptos"/>
              </a:rPr>
              <a:t>повторяемые</a:t>
            </a:r>
            <a:r>
              <a:rPr sz="1600" dirty="0">
                <a:solidFill>
                  <a:srgbClr val="FFFFFF"/>
                </a:solidFill>
                <a:latin typeface="Aptos"/>
              </a:rPr>
              <a:t> </a:t>
            </a:r>
            <a:r>
              <a:rPr sz="1600" dirty="0" err="1">
                <a:solidFill>
                  <a:srgbClr val="FFFFFF"/>
                </a:solidFill>
                <a:latin typeface="Aptos"/>
              </a:rPr>
              <a:t>квесты</a:t>
            </a:r>
            <a:r>
              <a:rPr sz="1600" dirty="0">
                <a:solidFill>
                  <a:srgbClr val="FFFFFF"/>
                </a:solidFill>
                <a:latin typeface="Aptos"/>
              </a:rPr>
              <a:t> и ML-</a:t>
            </a:r>
            <a:r>
              <a:rPr sz="1600" dirty="0" err="1">
                <a:solidFill>
                  <a:srgbClr val="FFFFFF"/>
                </a:solidFill>
                <a:latin typeface="Aptos"/>
              </a:rPr>
              <a:t>модель</a:t>
            </a:r>
            <a:r>
              <a:rPr sz="1600" dirty="0">
                <a:solidFill>
                  <a:srgbClr val="FFFFFF"/>
                </a:solidFill>
                <a:latin typeface="Aptos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181" y="1983309"/>
            <a:ext cx="3871299" cy="3069590"/>
          </a:xfrm>
          <a:prstGeom prst="roundRect">
            <a:avLst>
              <a:gd name="adj" fmla="val 5993"/>
            </a:avLst>
          </a:prstGeom>
          <a:solidFill>
            <a:srgbClr val="F7F4EB"/>
          </a:solidFill>
          <a:ln w="12700">
            <a:solidFill>
              <a:srgbClr val="F7F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73679" y="2177700"/>
            <a:ext cx="3272857" cy="30162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dirty="0" err="1">
                <a:solidFill>
                  <a:srgbClr val="1D5B45"/>
                </a:solidFill>
                <a:latin typeface="Montserrat Black" panose="00000A00000000000000" pitchFamily="2" charset="-52"/>
              </a:rPr>
              <a:t>Практическая</a:t>
            </a:r>
            <a:r>
              <a:rPr lang="en-US" sz="1600" b="1" dirty="0">
                <a:solidFill>
                  <a:srgbClr val="1D5B45"/>
                </a:solidFill>
                <a:latin typeface="Montserrat Black" panose="00000A00000000000000" pitchFamily="2" charset="-52"/>
              </a:rPr>
              <a:t> </a:t>
            </a:r>
            <a:r>
              <a:rPr sz="1600" b="1" dirty="0" err="1">
                <a:solidFill>
                  <a:srgbClr val="1D5B45"/>
                </a:solidFill>
                <a:latin typeface="Montserrat Black" panose="00000A00000000000000" pitchFamily="2" charset="-52"/>
              </a:rPr>
              <a:t>значимость</a:t>
            </a:r>
            <a:endParaRPr sz="1600" b="1" dirty="0">
              <a:solidFill>
                <a:srgbClr val="1D5B45"/>
              </a:solidFill>
              <a:latin typeface="Montserrat Black" panose="00000A00000000000000" pitchFamily="2" charset="-5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81891" y="2935051"/>
            <a:ext cx="3456432" cy="110184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0" dirty="0" err="1">
                <a:solidFill>
                  <a:srgbClr val="192734"/>
                </a:solidFill>
                <a:latin typeface="Aptos"/>
              </a:rPr>
              <a:t>Родитель</a:t>
            </a:r>
            <a:r>
              <a:rPr sz="1700" b="0" dirty="0">
                <a:solidFill>
                  <a:srgbClr val="192734"/>
                </a:solidFill>
                <a:latin typeface="Aptos"/>
              </a:rPr>
              <a:t> </a:t>
            </a:r>
            <a:r>
              <a:rPr sz="1700" b="0" dirty="0" err="1">
                <a:solidFill>
                  <a:srgbClr val="192734"/>
                </a:solidFill>
                <a:latin typeface="Aptos"/>
              </a:rPr>
              <a:t>получает</a:t>
            </a:r>
            <a:r>
              <a:rPr sz="1700" b="0" dirty="0">
                <a:solidFill>
                  <a:srgbClr val="192734"/>
                </a:solidFill>
                <a:latin typeface="Aptos"/>
              </a:rPr>
              <a:t> </a:t>
            </a:r>
            <a:r>
              <a:rPr sz="1700" b="0" dirty="0" err="1">
                <a:solidFill>
                  <a:srgbClr val="192734"/>
                </a:solidFill>
                <a:latin typeface="Aptos"/>
              </a:rPr>
              <a:t>удобный</a:t>
            </a:r>
            <a:r>
              <a:rPr sz="1700" b="0" dirty="0">
                <a:solidFill>
                  <a:srgbClr val="192734"/>
                </a:solidFill>
                <a:latin typeface="Aptos"/>
              </a:rPr>
              <a:t> </a:t>
            </a:r>
            <a:r>
              <a:rPr sz="1700" b="0" dirty="0" err="1">
                <a:solidFill>
                  <a:srgbClr val="192734"/>
                </a:solidFill>
                <a:latin typeface="Aptos"/>
              </a:rPr>
              <a:t>инструмент</a:t>
            </a:r>
            <a:r>
              <a:rPr sz="1700" b="0" dirty="0">
                <a:solidFill>
                  <a:srgbClr val="192734"/>
                </a:solidFill>
                <a:latin typeface="Aptos"/>
              </a:rPr>
              <a:t> </a:t>
            </a:r>
            <a:r>
              <a:rPr sz="1700" b="0" dirty="0" err="1">
                <a:solidFill>
                  <a:srgbClr val="192734"/>
                </a:solidFill>
                <a:latin typeface="Aptos"/>
              </a:rPr>
              <a:t>управления</a:t>
            </a:r>
            <a:r>
              <a:rPr sz="1700" b="0" dirty="0">
                <a:solidFill>
                  <a:srgbClr val="192734"/>
                </a:solidFill>
                <a:latin typeface="Aptos"/>
              </a:rPr>
              <a:t>, а </a:t>
            </a:r>
            <a:r>
              <a:rPr sz="1700" b="0" dirty="0" err="1">
                <a:solidFill>
                  <a:srgbClr val="192734"/>
                </a:solidFill>
                <a:latin typeface="Aptos"/>
              </a:rPr>
              <a:t>ребенок</a:t>
            </a:r>
            <a:r>
              <a:rPr sz="1700" b="0" dirty="0">
                <a:solidFill>
                  <a:srgbClr val="192734"/>
                </a:solidFill>
                <a:latin typeface="Aptos"/>
              </a:rPr>
              <a:t> — </a:t>
            </a:r>
            <a:r>
              <a:rPr sz="1700" b="0" dirty="0" err="1">
                <a:solidFill>
                  <a:srgbClr val="192734"/>
                </a:solidFill>
                <a:latin typeface="Aptos"/>
              </a:rPr>
              <a:t>игровую</a:t>
            </a:r>
            <a:r>
              <a:rPr sz="1700" b="0" dirty="0">
                <a:solidFill>
                  <a:srgbClr val="192734"/>
                </a:solidFill>
                <a:latin typeface="Aptos"/>
              </a:rPr>
              <a:t> </a:t>
            </a:r>
            <a:r>
              <a:rPr sz="1700" b="0" dirty="0" err="1">
                <a:solidFill>
                  <a:srgbClr val="192734"/>
                </a:solidFill>
                <a:latin typeface="Aptos"/>
              </a:rPr>
              <a:t>мотивацию</a:t>
            </a:r>
            <a:r>
              <a:rPr sz="1700" b="0" dirty="0">
                <a:solidFill>
                  <a:srgbClr val="192734"/>
                </a:solidFill>
                <a:latin typeface="Aptos"/>
              </a:rPr>
              <a:t> </a:t>
            </a:r>
            <a:r>
              <a:rPr sz="1700" b="0" dirty="0" err="1">
                <a:solidFill>
                  <a:srgbClr val="192734"/>
                </a:solidFill>
                <a:latin typeface="Aptos"/>
              </a:rPr>
              <a:t>выполнять</a:t>
            </a:r>
            <a:r>
              <a:rPr sz="1700" b="0" dirty="0">
                <a:solidFill>
                  <a:srgbClr val="192734"/>
                </a:solidFill>
                <a:latin typeface="Aptos"/>
              </a:rPr>
              <a:t> </a:t>
            </a:r>
            <a:r>
              <a:rPr sz="1700" b="0" dirty="0" err="1">
                <a:solidFill>
                  <a:srgbClr val="192734"/>
                </a:solidFill>
                <a:latin typeface="Aptos"/>
              </a:rPr>
              <a:t>реальные</a:t>
            </a:r>
            <a:r>
              <a:rPr sz="1700" b="0" dirty="0">
                <a:solidFill>
                  <a:srgbClr val="192734"/>
                </a:solidFill>
                <a:latin typeface="Aptos"/>
              </a:rPr>
              <a:t> </a:t>
            </a:r>
            <a:r>
              <a:rPr sz="1700" b="0" dirty="0" err="1">
                <a:solidFill>
                  <a:srgbClr val="192734"/>
                </a:solidFill>
                <a:latin typeface="Aptos"/>
              </a:rPr>
              <a:t>задачи</a:t>
            </a:r>
            <a:r>
              <a:rPr sz="1700" b="0" dirty="0">
                <a:solidFill>
                  <a:srgbClr val="192734"/>
                </a:solidFill>
                <a:latin typeface="Aptos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39728" y="6473952"/>
            <a:ext cx="365760" cy="1938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dirty="0">
                <a:solidFill>
                  <a:schemeClr val="bg1">
                    <a:lumMod val="95000"/>
                  </a:schemeClr>
                </a:solidFill>
                <a:latin typeface="Aptos"/>
              </a:rPr>
              <a:t>1</a:t>
            </a:r>
            <a:r>
              <a:rPr lang="en-US" sz="900" b="1" dirty="0">
                <a:solidFill>
                  <a:schemeClr val="bg1">
                    <a:lumMod val="95000"/>
                  </a:schemeClr>
                </a:solidFill>
                <a:latin typeface="Aptos"/>
              </a:rPr>
              <a:t>3</a:t>
            </a:r>
            <a:endParaRPr sz="900" b="1" dirty="0">
              <a:solidFill>
                <a:schemeClr val="bg1">
                  <a:lumMod val="95000"/>
                </a:schemeClr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itle_bg.jpg">
            <a:extLst>
              <a:ext uri="{FF2B5EF4-FFF2-40B4-BE49-F238E27FC236}">
                <a16:creationId xmlns:a16="http://schemas.microsoft.com/office/drawing/2014/main" id="{5C33EACA-C3BF-46CF-96E4-E28492A1CC8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301151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7F4D0F8-F36A-4FD7-9944-BB4285A092D2}"/>
              </a:ext>
            </a:extLst>
          </p:cNvPr>
          <p:cNvSpPr/>
          <p:nvPr/>
        </p:nvSpPr>
        <p:spPr>
          <a:xfrm>
            <a:off x="0" y="0"/>
            <a:ext cx="12220419" cy="6858000"/>
          </a:xfrm>
          <a:prstGeom prst="rect">
            <a:avLst/>
          </a:prstGeom>
          <a:solidFill>
            <a:srgbClr val="192734">
              <a:alpha val="54902"/>
            </a:srgbClr>
          </a:solidFill>
          <a:ln w="12700">
            <a:solidFill>
              <a:srgbClr val="1927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2EEDC1-4A9C-47E6-ABF7-EBAEE03F0BB3}"/>
              </a:ext>
            </a:extLst>
          </p:cNvPr>
          <p:cNvSpPr txBox="1"/>
          <p:nvPr/>
        </p:nvSpPr>
        <p:spPr>
          <a:xfrm>
            <a:off x="542350" y="588650"/>
            <a:ext cx="7699928" cy="227139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ru-RU" sz="7200" b="1" dirty="0">
                <a:solidFill>
                  <a:srgbClr val="FFFFFF"/>
                </a:solidFill>
                <a:latin typeface="Montserrat Black" panose="00000A00000000000000" pitchFamily="2" charset="-52"/>
              </a:rPr>
              <a:t>СПАСИБО ЗА ВНИМАНИЕ!</a:t>
            </a:r>
            <a:endParaRPr sz="7200" b="1" dirty="0">
              <a:solidFill>
                <a:srgbClr val="FFFFFF"/>
              </a:solidFill>
              <a:latin typeface="Montserrat Black" panose="00000A00000000000000" pitchFamily="2" charset="-52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5BB68AD-FBAC-48A2-8B5D-48F10B4ECD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005" y="3429000"/>
            <a:ext cx="3170767" cy="317076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CA83EE4-5DF1-49C1-AE35-FCE49EF75F01}"/>
              </a:ext>
            </a:extLst>
          </p:cNvPr>
          <p:cNvSpPr txBox="1"/>
          <p:nvPr/>
        </p:nvSpPr>
        <p:spPr>
          <a:xfrm>
            <a:off x="5716057" y="5021155"/>
            <a:ext cx="6111905" cy="91717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ru-RU" sz="2800" b="1" dirty="0">
                <a:solidFill>
                  <a:srgbClr val="F9ECCD"/>
                </a:solidFill>
                <a:latin typeface="Aptos"/>
              </a:rPr>
              <a:t>Готов ответить на все интересующие вас вопросы</a:t>
            </a:r>
            <a:endParaRPr sz="2800" b="1" dirty="0">
              <a:solidFill>
                <a:srgbClr val="F9ECCD"/>
              </a:solidFill>
              <a:latin typeface="Aptos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90CB0AA-1E90-4074-ADEF-51A4E21200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7195" y="588650"/>
            <a:ext cx="3170767" cy="3170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748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623</Words>
  <Application>Microsoft Office PowerPoint</Application>
  <PresentationFormat>Широкоэкранный</PresentationFormat>
  <Paragraphs>156</Paragraphs>
  <Slides>15</Slides>
  <Notes>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1" baseType="lpstr">
      <vt:lpstr>Aptos</vt:lpstr>
      <vt:lpstr>Montserrat</vt:lpstr>
      <vt:lpstr>Calibri</vt:lpstr>
      <vt:lpstr>Montserrat Black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ВКР И. Д. Ерюшева</dc:title>
  <dc:subject>Геймифицированный ежедневник: Unity, Web, Firebase, аналитика и экспертная система</dc:subject>
  <dc:creator>И. Д. Ерюшев</dc:creator>
  <cp:keywords/>
  <dc:description>Сформировано по итоговой версии ВКР и коду проекта.</dc:description>
  <cp:lastModifiedBy>Максим Сидоренко</cp:lastModifiedBy>
  <cp:revision>21</cp:revision>
  <dcterms:created xsi:type="dcterms:W3CDTF">2013-01-27T09:14:16Z</dcterms:created>
  <dcterms:modified xsi:type="dcterms:W3CDTF">2026-06-16T21:01:25Z</dcterms:modified>
  <cp:category/>
</cp:coreProperties>
</file>